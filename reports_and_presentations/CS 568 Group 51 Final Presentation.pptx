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22" Type="http://schemas.openxmlformats.org/officeDocument/2006/relationships/font" Target="fonts/RobotoMono-italic.fntdata"/><Relationship Id="rId21" Type="http://schemas.openxmlformats.org/officeDocument/2006/relationships/font" Target="fonts/RobotoMono-bold.fntdata"/><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author.stanford.edu/?utm_source=chatgpt.com" TargetMode="External"/><Relationship Id="rId3" Type="http://schemas.openxmlformats.org/officeDocument/2006/relationships/hyperlink" Target="https://coauthor.stanford.edu/?utm_source=chatgpt.com"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assistant-for-accessibility.streamlit.app" TargetMode="External"/><Relationship Id="rId3" Type="http://schemas.openxmlformats.org/officeDocument/2006/relationships/hyperlink" Target="https://ai-assistant-for-accessibility.streamlit.app"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project addresses a core challenge in Human-Computer Interaction: ensuring web accessibility for users with diverse needs.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Most existing tools like Google Lighthouse and AXE provide rule-based checks — they can identify violations, but they don't suggest how to fix them.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They also don't simulate real users, which limits their usefulness in practical, inclusive design workflows.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Accessibility isn’t a ‘nice to have’ — it’s essential. Over a billion people worldwide face some form of disability. Yet, many digital interfaces remain hard to navigate.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goal was to explore how </a:t>
            </a:r>
            <a:r>
              <a:rPr b="1" lang="en-US" sz="1100">
                <a:latin typeface="Arial"/>
                <a:ea typeface="Arial"/>
                <a:cs typeface="Arial"/>
                <a:sym typeface="Arial"/>
              </a:rPr>
              <a:t>AI can go beyond static rules</a:t>
            </a:r>
            <a:r>
              <a:rPr lang="en-US" sz="1100">
                <a:latin typeface="Arial"/>
                <a:ea typeface="Arial"/>
                <a:cs typeface="Arial"/>
                <a:sym typeface="Arial"/>
              </a:rPr>
              <a:t> and </a:t>
            </a:r>
            <a:r>
              <a:rPr b="1" lang="en-US" sz="1100">
                <a:latin typeface="Arial"/>
                <a:ea typeface="Arial"/>
                <a:cs typeface="Arial"/>
                <a:sym typeface="Arial"/>
              </a:rPr>
              <a:t>help designers and developers understand and fix</a:t>
            </a:r>
            <a:r>
              <a:rPr lang="en-US" sz="1100">
                <a:latin typeface="Arial"/>
                <a:ea typeface="Arial"/>
                <a:cs typeface="Arial"/>
                <a:sym typeface="Arial"/>
              </a:rPr>
              <a:t> accessibility issues automatically and meaningfully.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saw this as an opportunity for human-AI collaboration — where AI simulates user perspectives and assists with empathetic, intelligent suggestions.”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49" name="Google Shape;2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651c2ef46_2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651c2ef46_2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1. User-Centered Perspective</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inspiration stemmed from the realization that accessibility isn't one-size-fits-all. We wanted to build a system that goes beyond checklists and simulates the lived experiences of users with disabilities—like screen reader navigation for the visually impaired or keyboard-only usage for motor-impaired individuals. This helps designers empathize and prioritize inclusive design."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2. Augments Human Judgment</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"We’re not trying to replace developers with AI. Instead, our agents act as intelligent assistants—flagging accessibility issues, understanding their context, and suggesting human-like, explainable fixes. This makes the developer's job easier without taking them out of the loop."</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3. Data-Driven Feedback</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validate whether our fixes are meaningful, we involved real users. They rated the quality and clarity of the AI-generated suggestions. This feedback loop lets us refine our system and move toward a more participatory HCI approach—where users shape the improvements."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4. Intelligent Interaction Systems</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"Traditional accessibility tools rely on static rules. Our system introduces a dynamic, multi-agent architecture that adapts to different contexts. It communicates issues and fixes through natural language, making it more intuitive for designers and developers to understand and act upon."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5. Evaluation via Real Users</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conducted a user study with 30–40 participants who evaluated our agent-generated fixes. Their ratings gave us key insights into how useful and actionable our suggestions were. This real-world validation ensures the system isn't just functional—it’s actually trusted and usable."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57" name="Google Shape;257;g35651c2ef46_2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651c2ef46_3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5651c2ef46_3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latin typeface="Arial"/>
                <a:ea typeface="Arial"/>
                <a:cs typeface="Arial"/>
                <a:sym typeface="Arial"/>
              </a:rPr>
              <a:t>Advancing Web Accessibility: Leveraging Generative AI for Enhanced WCAG Compliance</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This paper explores the use of generative AI to automate routine evaluations and offer advanced refactoring methodologies to enhance WCAG compliance.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While this work focuses on automating WCAG compliance checks, our project goes further by integrating multiple specialized agents (e.g., Contrast Agent, Semantic Agent, Interaction Agent) that not only detect violations but also simulate diverse user experiences and provide actionable, context-aware fixes. This multi-agent framework offers a more holistic and user-centered approach to accessibility enhancements.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400"/>
              </a:spcBef>
              <a:spcAft>
                <a:spcPts val="0"/>
              </a:spcAft>
              <a:buNone/>
            </a:pPr>
            <a:r>
              <a:rPr b="1" lang="en-US" sz="1300">
                <a:latin typeface="Arial"/>
                <a:ea typeface="Arial"/>
                <a:cs typeface="Arial"/>
                <a:sym typeface="Arial"/>
              </a:rPr>
              <a:t>2. From Cluttered to Clear: Improving the Web Accessibility Design for Screen Reader Users in E-commerce With Generative AI</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The study introduces a browser plugin that uses generative AI to restructure webpage content in real time, improving navigation for screen reader users on e-commerce platforms.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Building upon this idea, our system not only restructures content but also simulates interactions from various user personas, including those with motor impairments and color blindness. Additionally, our Fixing Agent aggregates insights from multiple specialized agents to provide comprehensive accessibility improvements across different types of websites, not limited to e-commerce.</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400"/>
              </a:spcBef>
              <a:spcAft>
                <a:spcPts val="0"/>
              </a:spcAft>
              <a:buNone/>
            </a:pPr>
            <a:r>
              <a:rPr b="1" lang="en-US" sz="1300">
                <a:latin typeface="Arial"/>
                <a:ea typeface="Arial"/>
                <a:cs typeface="Arial"/>
                <a:sym typeface="Arial"/>
              </a:rPr>
              <a:t>3. AI in Web Development: Enhancing Accessibility</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This paper discusses the incorporation of AI into web development to make it more accessible, including AI-driven accessibility audits and personalized user experiences.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While this work highlights the potential of AI in enhancing accessibility, our project implements this potential through a concrete multi-agent system that not only audits but also actively modifies and improves web interfaces. Our user validation process further ensures that the AI-generated fixes are practical and effective.</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400"/>
              </a:spcBef>
              <a:spcAft>
                <a:spcPts val="0"/>
              </a:spcAft>
              <a:buNone/>
            </a:pPr>
            <a:r>
              <a:rPr b="1" lang="en-US" sz="1300">
                <a:latin typeface="Arial"/>
                <a:ea typeface="Arial"/>
                <a:cs typeface="Arial"/>
                <a:sym typeface="Arial"/>
              </a:rPr>
              <a:t>4. WebUI: A Dataset for Enhancing Visual UI Understanding with Web Semantics</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This dataset provides a large collection of rendered web pages with extracted metadata, aiding in visual UI understanding.</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We augment the WebUI dataset by adding annotations for accessibility violations and corresponding AI-generated fixes. This enriched dataset serves as a valuable resource for training and evaluating accessibility-focused AI models, extending the utility of the original dataset.</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90000"/>
              </a:lnSpc>
              <a:spcBef>
                <a:spcPts val="1200"/>
              </a:spcBef>
              <a:spcAft>
                <a:spcPts val="0"/>
              </a:spcAft>
              <a:buNone/>
            </a:pPr>
            <a:r>
              <a:t/>
            </a:r>
            <a:endParaRPr b="1" sz="2000" u="sng">
              <a:solidFill>
                <a:srgbClr val="13294B"/>
              </a:solidFill>
            </a:endParaRPr>
          </a:p>
        </p:txBody>
      </p:sp>
      <p:sp>
        <p:nvSpPr>
          <p:cNvPr id="265" name="Google Shape;265;g35651c2ef46_3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651c2ef4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5651c2ef46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5. Rico: A Mobile App Dataset for Building Data-Driven Design Applications</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Rico offers a dataset of mobile app interfaces to support data-driven design applications.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Inspired by Rico, we focus on web interfaces and extend the concept by integrating AI agents that not only analyze but also improve UI accessibility. Our approach brings the benefits of data-driven design to the web domain, with a specific emphasis on accessibility.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6. Evaluating Large Language Models in Generating Synthetic HCI Research Data</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This study evaluates the use of large language models to generate synthetic HCI research data, assessing the realism and utility of such data.</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While this work focuses on generating synthetic data for research purposes, our project utilizes LLMs to simulate diverse user interactions and generate practical accessibility fixes. Furthermore, we validate these fixes through user studies, ensuring their applicability in real-world scenarios.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7. CoAuthor: Designing a Human-AI Collaborative Writing Dataset</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Their Contribution</a:t>
            </a:r>
            <a:r>
              <a:rPr lang="en-US" sz="1100">
                <a:latin typeface="Arial"/>
                <a:ea typeface="Arial"/>
                <a:cs typeface="Arial"/>
                <a:sym typeface="Arial"/>
              </a:rPr>
              <a:t>: CoAuthor captures interactions between humans and AI during collaborative writing tasks, providing insights into AI's role in creative processes.</a:t>
            </a:r>
            <a:r>
              <a:rPr lang="en-US" sz="1100" u="sng">
                <a:solidFill>
                  <a:schemeClr val="hlink"/>
                </a:solidFill>
                <a:latin typeface="Arial"/>
                <a:ea typeface="Arial"/>
                <a:cs typeface="Arial"/>
                <a:sym typeface="Arial"/>
                <a:hlinkClick r:id="rId2"/>
              </a:rPr>
              <a:t>CoAuthor+1arXiv+1</a:t>
            </a:r>
            <a:br>
              <a:rPr lang="en-US" sz="1100" u="sng">
                <a:solidFill>
                  <a:schemeClr val="hlink"/>
                </a:solidFill>
                <a:latin typeface="Arial"/>
                <a:ea typeface="Arial"/>
                <a:cs typeface="Arial"/>
                <a:sym typeface="Arial"/>
                <a:hlinkClick r:id="rId3"/>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Our Advancement</a:t>
            </a:r>
            <a:r>
              <a:rPr lang="en-US" sz="1100">
                <a:latin typeface="Arial"/>
                <a:ea typeface="Arial"/>
                <a:cs typeface="Arial"/>
                <a:sym typeface="Arial"/>
              </a:rPr>
              <a:t>: Drawing inspiration from CoAuthor's human-AI collaboration framework, our project emphasizes collaborative accessibility improvements. Our system not only suggests fixes but also involves users in validating and refining these suggestions, fostering a partnership between AI and human users in enhancing web accessibility.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273" name="Google Shape;273;g35651c2ef46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5651c2ef46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5651c2ef46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answer this question, we began with the </a:t>
            </a:r>
            <a:r>
              <a:rPr b="1" lang="en-US" sz="1100">
                <a:latin typeface="Arial"/>
                <a:ea typeface="Arial"/>
                <a:cs typeface="Arial"/>
                <a:sym typeface="Arial"/>
              </a:rPr>
              <a:t>WebUI7k dataset</a:t>
            </a:r>
            <a:r>
              <a:rPr lang="en-US" sz="1100">
                <a:latin typeface="Arial"/>
                <a:ea typeface="Arial"/>
                <a:cs typeface="Arial"/>
                <a:sym typeface="Arial"/>
              </a:rPr>
              <a:t>, which contains web UI code and screenshots.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then used the </a:t>
            </a:r>
            <a:r>
              <a:rPr b="1" lang="en-US" sz="1100">
                <a:latin typeface="Arial"/>
                <a:ea typeface="Arial"/>
                <a:cs typeface="Arial"/>
                <a:sym typeface="Arial"/>
              </a:rPr>
              <a:t>AXE tool</a:t>
            </a:r>
            <a:r>
              <a:rPr lang="en-US" sz="1100">
                <a:latin typeface="Arial"/>
                <a:ea typeface="Arial"/>
                <a:cs typeface="Arial"/>
                <a:sym typeface="Arial"/>
              </a:rPr>
              <a:t> to annotate these webpages with rule-based accessibility violations — creating a baseline.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From there, we built and fine-tuned agents — like the Semantic, Contrast, and Image Captioning agents — to generate fixes for those violations.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result is a </a:t>
            </a:r>
            <a:r>
              <a:rPr b="1" lang="en-US" sz="1100">
                <a:latin typeface="Arial"/>
                <a:ea typeface="Arial"/>
                <a:cs typeface="Arial"/>
                <a:sym typeface="Arial"/>
              </a:rPr>
              <a:t>new, augmented dataset</a:t>
            </a:r>
            <a:r>
              <a:rPr lang="en-US" sz="1100">
                <a:latin typeface="Arial"/>
                <a:ea typeface="Arial"/>
                <a:cs typeface="Arial"/>
                <a:sym typeface="Arial"/>
              </a:rPr>
              <a:t> that includes not just the violations, but also </a:t>
            </a:r>
            <a:r>
              <a:rPr b="1" lang="en-US" sz="1100">
                <a:latin typeface="Arial"/>
                <a:ea typeface="Arial"/>
                <a:cs typeface="Arial"/>
                <a:sym typeface="Arial"/>
              </a:rPr>
              <a:t>AI-generated, context-aware fixes</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dataset is foundational — it lets us train and evaluate agents on realistic accessibility issues, using real-world web UIs.”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81" name="Google Shape;281;g35651c2ef46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5651c2ef46_2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5651c2ef46_2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“Each of our agents was designed to tackle a specific kind of accessibility issue — for example, contrast problems, semantic tagging issues, or missing alt text.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agents were </a:t>
            </a:r>
            <a:r>
              <a:rPr b="1" lang="en-US" sz="1100">
                <a:latin typeface="Arial"/>
                <a:ea typeface="Arial"/>
                <a:cs typeface="Arial"/>
                <a:sym typeface="Arial"/>
              </a:rPr>
              <a:t>fine-tuned individually</a:t>
            </a:r>
            <a:r>
              <a:rPr lang="en-US" sz="1100">
                <a:latin typeface="Arial"/>
                <a:ea typeface="Arial"/>
                <a:cs typeface="Arial"/>
                <a:sym typeface="Arial"/>
              </a:rPr>
              <a:t>, so each one focuses on its domain, generating targeted fixes.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Then, a central </a:t>
            </a:r>
            <a:r>
              <a:rPr b="1" lang="en-US" sz="1100">
                <a:latin typeface="Arial"/>
                <a:ea typeface="Arial"/>
                <a:cs typeface="Arial"/>
                <a:sym typeface="Arial"/>
              </a:rPr>
              <a:t>Fixing Agent</a:t>
            </a:r>
            <a:r>
              <a:rPr lang="en-US" sz="1100">
                <a:latin typeface="Arial"/>
                <a:ea typeface="Arial"/>
                <a:cs typeface="Arial"/>
                <a:sym typeface="Arial"/>
              </a:rPr>
              <a:t> collects outputs from all of them and compiles a summary of violations and suggested fixes.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One important note: we don’t currently resolve overlapping or conflicting suggestions — the Fixing Agent presents each agent’s perspective independently.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helps preserve transparency and makes it easier to trace back suggestions to their source agent.”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89" name="Google Shape;289;g35651c2ef46_2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5651c2ef46_2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5651c2ef46_2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evaluate the usefulness of our system, we created a </a:t>
            </a:r>
            <a:r>
              <a:rPr b="1" lang="en-US" sz="1100">
                <a:latin typeface="Arial"/>
                <a:ea typeface="Arial"/>
                <a:cs typeface="Arial"/>
                <a:sym typeface="Arial"/>
              </a:rPr>
              <a:t>Streamlit-based UI</a:t>
            </a:r>
            <a:r>
              <a:rPr lang="en-US" sz="1100">
                <a:latin typeface="Arial"/>
                <a:ea typeface="Arial"/>
                <a:cs typeface="Arial"/>
                <a:sym typeface="Arial"/>
              </a:rPr>
              <a:t> and asked our agents to evaluate 10 real-world websites.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Then, we asked </a:t>
            </a:r>
            <a:r>
              <a:rPr b="1" lang="en-US" sz="1100">
                <a:latin typeface="Arial"/>
                <a:ea typeface="Arial"/>
                <a:cs typeface="Arial"/>
                <a:sym typeface="Arial"/>
              </a:rPr>
              <a:t>30 to 40 users</a:t>
            </a:r>
            <a:r>
              <a:rPr lang="en-US" sz="1100">
                <a:latin typeface="Arial"/>
                <a:ea typeface="Arial"/>
                <a:cs typeface="Arial"/>
                <a:sym typeface="Arial"/>
              </a:rPr>
              <a:t> to review the suggested fixes and provide feedback.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each fix, they could </a:t>
            </a:r>
            <a:r>
              <a:rPr b="1" lang="en-US" sz="1100">
                <a:latin typeface="Arial"/>
                <a:ea typeface="Arial"/>
                <a:cs typeface="Arial"/>
                <a:sym typeface="Arial"/>
              </a:rPr>
              <a:t>upvote</a:t>
            </a:r>
            <a:r>
              <a:rPr lang="en-US" sz="1100">
                <a:latin typeface="Arial"/>
                <a:ea typeface="Arial"/>
                <a:cs typeface="Arial"/>
                <a:sym typeface="Arial"/>
              </a:rPr>
              <a:t> if they found it helpful, or </a:t>
            </a:r>
            <a:r>
              <a:rPr b="1" lang="en-US" sz="1100">
                <a:latin typeface="Arial"/>
                <a:ea typeface="Arial"/>
                <a:cs typeface="Arial"/>
                <a:sym typeface="Arial"/>
              </a:rPr>
              <a:t>download</a:t>
            </a:r>
            <a:r>
              <a:rPr lang="en-US" sz="1100">
                <a:latin typeface="Arial"/>
                <a:ea typeface="Arial"/>
                <a:cs typeface="Arial"/>
                <a:sym typeface="Arial"/>
              </a:rPr>
              <a:t> it for reference.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gave us a clear signal of which fixes were actually perceived as useful — a kind of human-in-the-loop validation.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now have a </a:t>
            </a:r>
            <a:r>
              <a:rPr b="1" lang="en-US" sz="1100">
                <a:latin typeface="Arial"/>
                <a:ea typeface="Arial"/>
                <a:cs typeface="Arial"/>
                <a:sym typeface="Arial"/>
              </a:rPr>
              <a:t>verified fixes dataset</a:t>
            </a:r>
            <a:r>
              <a:rPr lang="en-US" sz="1100">
                <a:latin typeface="Arial"/>
                <a:ea typeface="Arial"/>
                <a:cs typeface="Arial"/>
                <a:sym typeface="Arial"/>
              </a:rPr>
              <a:t>, which we plan to use to </a:t>
            </a:r>
            <a:r>
              <a:rPr b="1" lang="en-US" sz="1100">
                <a:latin typeface="Arial"/>
                <a:ea typeface="Arial"/>
                <a:cs typeface="Arial"/>
                <a:sym typeface="Arial"/>
              </a:rPr>
              <a:t>retrain and improve our agents</a:t>
            </a:r>
            <a:r>
              <a:rPr lang="en-US" sz="1100">
                <a:latin typeface="Arial"/>
                <a:ea typeface="Arial"/>
                <a:cs typeface="Arial"/>
                <a:sym typeface="Arial"/>
              </a:rPr>
              <a:t> in the next phase of development.”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97" name="Google Shape;297;g35651c2ef46_2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651c2ef46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5651c2ef46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Arch of multiagent system- 6 agents, </a:t>
            </a:r>
            <a:r>
              <a:rPr lang="en-US"/>
              <a:t>trained models vs GPT models ( cover what accuracy we reached for 2 models), preprocessors(url to json to input for agent) and UI(how we collect the json and connect to FE)</a:t>
            </a:r>
            <a:endParaRPr/>
          </a:p>
        </p:txBody>
      </p:sp>
      <p:sp>
        <p:nvSpPr>
          <p:cNvPr id="305" name="Google Shape;305;g35651c2ef46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5651c2ef46_3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5651c2ef46_3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 agent, Autogen</a:t>
            </a:r>
            <a:endParaRPr/>
          </a:p>
        </p:txBody>
      </p:sp>
      <p:sp>
        <p:nvSpPr>
          <p:cNvPr id="313" name="Google Shape;313;g35651c2ef46_3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568700a275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568700a275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conducted our evaluation using a public feedback app available at</a:t>
            </a:r>
            <a:r>
              <a:rPr lang="en-US" sz="1100">
                <a:uFill>
                  <a:noFill/>
                </a:uFill>
                <a:latin typeface="Arial"/>
                <a:ea typeface="Arial"/>
                <a:cs typeface="Arial"/>
                <a:sym typeface="Arial"/>
                <a:hlinkClick r:id="rId2"/>
              </a:rPr>
              <a:t> </a:t>
            </a:r>
            <a:r>
              <a:rPr lang="en-US" sz="1100" u="sng">
                <a:solidFill>
                  <a:schemeClr val="hlink"/>
                </a:solidFill>
                <a:latin typeface="Arial"/>
                <a:ea typeface="Arial"/>
                <a:cs typeface="Arial"/>
                <a:sym typeface="Arial"/>
                <a:hlinkClick r:id="rId3"/>
              </a:rPr>
              <a:t>ai-assistant-for-accessibility.streamlit.app</a:t>
            </a:r>
            <a:r>
              <a:rPr lang="en-US" sz="1100">
                <a:latin typeface="Arial"/>
                <a:ea typeface="Arial"/>
                <a:cs typeface="Arial"/>
                <a:sym typeface="Arial"/>
              </a:rPr>
              <a:t>.</a:t>
            </a:r>
            <a:br>
              <a:rPr lang="en-US" sz="1100">
                <a:latin typeface="Arial"/>
                <a:ea typeface="Arial"/>
                <a:cs typeface="Arial"/>
                <a:sym typeface="Arial"/>
              </a:rPr>
            </a:br>
            <a:r>
              <a:rPr lang="en-US" sz="1100">
                <a:latin typeface="Arial"/>
                <a:ea typeface="Arial"/>
                <a:cs typeface="Arial"/>
                <a:sym typeface="Arial"/>
              </a:rPr>
              <a:t> Participants were shown 11 real-world websites, each with around 4 identified accessibility issues and suggested fixes. These covered 14 different violation categories.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average, about 13 people reviewed each site, leading to a total of 548 votes cast.</a:t>
            </a:r>
            <a:br>
              <a:rPr lang="en-US" sz="1100">
                <a:latin typeface="Arial"/>
                <a:ea typeface="Arial"/>
                <a:cs typeface="Arial"/>
                <a:sym typeface="Arial"/>
              </a:rPr>
            </a:br>
            <a:r>
              <a:rPr lang="en-US" sz="1100">
                <a:latin typeface="Arial"/>
                <a:ea typeface="Arial"/>
                <a:cs typeface="Arial"/>
                <a:sym typeface="Arial"/>
              </a:rPr>
              <a:t> Importantly, the average agreement between reviewers on whether a fix was valid came out to 84%, indicating strong consensus.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You can explore the full results in the linked Google Sheet.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22" name="Google Shape;322;g3568700a275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68700a275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568700a275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analyzed how well our agents performed across different accessibility flaws.</a:t>
            </a:r>
            <a:br>
              <a:rPr lang="en-US" sz="1100">
                <a:latin typeface="Arial"/>
                <a:ea typeface="Arial"/>
                <a:cs typeface="Arial"/>
                <a:sym typeface="Arial"/>
              </a:rPr>
            </a:br>
            <a:r>
              <a:rPr lang="en-US" sz="1100">
                <a:latin typeface="Arial"/>
                <a:ea typeface="Arial"/>
                <a:cs typeface="Arial"/>
                <a:sym typeface="Arial"/>
              </a:rPr>
              <a:t> Some issues were consistently well-handled—like missing </a:t>
            </a:r>
            <a:r>
              <a:rPr lang="en-US" sz="1100">
                <a:solidFill>
                  <a:srgbClr val="188038"/>
                </a:solidFill>
                <a:latin typeface="Roboto Mono"/>
                <a:ea typeface="Roboto Mono"/>
                <a:cs typeface="Roboto Mono"/>
                <a:sym typeface="Roboto Mono"/>
              </a:rPr>
              <a:t>&lt;main&gt;</a:t>
            </a:r>
            <a:r>
              <a:rPr lang="en-US" sz="1100">
                <a:latin typeface="Arial"/>
                <a:ea typeface="Arial"/>
                <a:cs typeface="Arial"/>
                <a:sym typeface="Arial"/>
              </a:rPr>
              <a:t>, unclear link text or style, inaccurate alt-text, and missing </a:t>
            </a:r>
            <a:r>
              <a:rPr lang="en-US" sz="1100">
                <a:solidFill>
                  <a:srgbClr val="188038"/>
                </a:solidFill>
                <a:latin typeface="Roboto Mono"/>
                <a:ea typeface="Roboto Mono"/>
                <a:cs typeface="Roboto Mono"/>
                <a:sym typeface="Roboto Mono"/>
              </a:rPr>
              <a:t>&lt;html lang&gt;</a:t>
            </a:r>
            <a:r>
              <a:rPr lang="en-US" sz="1100">
                <a:latin typeface="Arial"/>
                <a:ea typeface="Arial"/>
                <a:cs typeface="Arial"/>
                <a:sym typeface="Arial"/>
              </a:rPr>
              <a:t>—with over 90% reviewer agreement and strong up-vote ratios. These can be safely automated.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However, flaws like missing </a:t>
            </a:r>
            <a:r>
              <a:rPr lang="en-US" sz="1100">
                <a:solidFill>
                  <a:srgbClr val="188038"/>
                </a:solidFill>
                <a:latin typeface="Roboto Mono"/>
                <a:ea typeface="Roboto Mono"/>
                <a:cs typeface="Roboto Mono"/>
                <a:sym typeface="Roboto Mono"/>
              </a:rPr>
              <a:t>&lt;title&gt;</a:t>
            </a:r>
            <a:r>
              <a:rPr lang="en-US" sz="1100">
                <a:latin typeface="Arial"/>
                <a:ea typeface="Arial"/>
                <a:cs typeface="Arial"/>
                <a:sym typeface="Arial"/>
              </a:rPr>
              <a:t>, high positive </a:t>
            </a:r>
            <a:r>
              <a:rPr lang="en-US" sz="1100">
                <a:solidFill>
                  <a:srgbClr val="188038"/>
                </a:solidFill>
                <a:latin typeface="Roboto Mono"/>
                <a:ea typeface="Roboto Mono"/>
                <a:cs typeface="Roboto Mono"/>
                <a:sym typeface="Roboto Mono"/>
              </a:rPr>
              <a:t>tabindex</a:t>
            </a:r>
            <a:r>
              <a:rPr lang="en-US" sz="1100">
                <a:latin typeface="Arial"/>
                <a:ea typeface="Arial"/>
                <a:cs typeface="Arial"/>
                <a:sym typeface="Arial"/>
              </a:rPr>
              <a:t>, and heading structure issues received mixed feedback and still require human oversight.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also found fix clusters—like alt-text pairs and heading-level corrections—where reviewers responded consistently. These should be bundled together.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Finally, a few fixes like contrast tweaks and </a:t>
            </a:r>
            <a:r>
              <a:rPr lang="en-US" sz="1100">
                <a:solidFill>
                  <a:srgbClr val="188038"/>
                </a:solidFill>
                <a:latin typeface="Roboto Mono"/>
                <a:ea typeface="Roboto Mono"/>
                <a:cs typeface="Roboto Mono"/>
                <a:sym typeface="Roboto Mono"/>
              </a:rPr>
              <a:t>tabindex</a:t>
            </a:r>
            <a:r>
              <a:rPr lang="en-US" sz="1100">
                <a:latin typeface="Arial"/>
                <a:ea typeface="Arial"/>
                <a:cs typeface="Arial"/>
                <a:sym typeface="Arial"/>
              </a:rPr>
              <a:t> changes were independent and can be reviewed in isolation.</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30" name="Google Shape;330;g3568700a275_2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568700a27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568700a275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1. Fine-Tuning Agents with Human Feedback</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 part of our evaluation, we gathered user ratings for each fix suggested by our agents. Going forward, we plan to use this feedback to fine-tune the agents. This will help improve not only the accuracy of their suggestions but also how well these align with actual developer expectations and user needs."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2. Expanded Disability Simulation</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"Right now, we simulate key personas like visually impaired and color-blind users. But accessibility spans more than that. In future iterations, we aim to introduce agents for cognitive impairments, hearing disabilities, and multilingual challenges to offer a more holistic simulation of user experiences."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3. Explainable AI for Accessibility</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"Trust is essential in developer tools. So, we plan to embed natural language explanations with every fix, allowing developers to understand </a:t>
            </a:r>
            <a:r>
              <a:rPr i="1" lang="en-US" sz="1100">
                <a:latin typeface="Arial"/>
                <a:ea typeface="Arial"/>
                <a:cs typeface="Arial"/>
                <a:sym typeface="Arial"/>
              </a:rPr>
              <a:t>why</a:t>
            </a:r>
            <a:r>
              <a:rPr lang="en-US" sz="1100">
                <a:latin typeface="Arial"/>
                <a:ea typeface="Arial"/>
                <a:cs typeface="Arial"/>
                <a:sym typeface="Arial"/>
              </a:rPr>
              <a:t> a suggestion was made. This explainability will make our system not just smarter, but also more transparent and developer-friendly."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4. Real-Time Developer Tooling</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current system is powerful but still batch-based. We envision packaging it as a browser extension or dev tool plugin that runs in real time. Developers could get accessibility suggestions as they design—making accessibility a proactive, not reactive, part of the workflow."</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38" name="Google Shape;338;g3568700a275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568700a275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568700a275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568700a275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68700a275_5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568700a275_5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568700a275_5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spTree>
      <p:nvGrpSpPr>
        <p:cNvPr id="13" name="Shape 13"/>
        <p:cNvGrpSpPr/>
        <p:nvPr/>
      </p:nvGrpSpPr>
      <p:grpSpPr>
        <a:xfrm>
          <a:off x="0" y="0"/>
          <a:ext cx="0" cy="0"/>
          <a:chOff x="0" y="0"/>
          <a:chExt cx="0" cy="0"/>
        </a:xfrm>
      </p:grpSpPr>
      <p:pic>
        <p:nvPicPr>
          <p:cNvPr id="14" name="Google Shape;14;p2"/>
          <p:cNvPicPr preferRelativeResize="0"/>
          <p:nvPr/>
        </p:nvPicPr>
        <p:blipFill rotWithShape="1">
          <a:blip r:embed="rId2">
            <a:alphaModFix/>
          </a:blip>
          <a:srcRect b="0" l="0" r="0" t="0"/>
          <a:stretch/>
        </p:blipFill>
        <p:spPr>
          <a:xfrm>
            <a:off x="0" y="0"/>
            <a:ext cx="12191999" cy="6858000"/>
          </a:xfrm>
          <a:prstGeom prst="rect">
            <a:avLst/>
          </a:prstGeom>
          <a:noFill/>
          <a:ln>
            <a:noFill/>
          </a:ln>
        </p:spPr>
      </p:pic>
      <p:sp>
        <p:nvSpPr>
          <p:cNvPr id="15" name="Google Shape;15;p2"/>
          <p:cNvSpPr/>
          <p:nvPr/>
        </p:nvSpPr>
        <p:spPr>
          <a:xfrm>
            <a:off x="2895872" y="1832610"/>
            <a:ext cx="95250" cy="31927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 name="Google Shape;16;p2"/>
          <p:cNvSpPr txBox="1"/>
          <p:nvPr>
            <p:ph type="title"/>
          </p:nvPr>
        </p:nvSpPr>
        <p:spPr>
          <a:xfrm>
            <a:off x="3283131" y="1958297"/>
            <a:ext cx="8569236" cy="16144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3285601" y="3489452"/>
            <a:ext cx="8569235" cy="76796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3285601" y="4257421"/>
            <a:ext cx="8569235" cy="76796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 Slide 2">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0" t="0"/>
          <a:stretch/>
        </p:blipFill>
        <p:spPr>
          <a:xfrm>
            <a:off x="5639" y="0"/>
            <a:ext cx="12180722" cy="6858000"/>
          </a:xfrm>
          <a:prstGeom prst="rect">
            <a:avLst/>
          </a:prstGeom>
          <a:noFill/>
          <a:ln>
            <a:noFill/>
          </a:ln>
        </p:spPr>
      </p:pic>
      <p:sp>
        <p:nvSpPr>
          <p:cNvPr id="21" name="Google Shape;21;p3"/>
          <p:cNvSpPr/>
          <p:nvPr/>
        </p:nvSpPr>
        <p:spPr>
          <a:xfrm>
            <a:off x="2895872" y="1832610"/>
            <a:ext cx="95250" cy="31927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 name="Google Shape;22;p3"/>
          <p:cNvSpPr txBox="1"/>
          <p:nvPr>
            <p:ph type="title"/>
          </p:nvPr>
        </p:nvSpPr>
        <p:spPr>
          <a:xfrm>
            <a:off x="3283131" y="1958297"/>
            <a:ext cx="8569236" cy="16144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3285601" y="3489452"/>
            <a:ext cx="8569235" cy="76796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2" type="body"/>
          </p:nvPr>
        </p:nvSpPr>
        <p:spPr>
          <a:xfrm>
            <a:off x="3285601" y="4257421"/>
            <a:ext cx="8569235" cy="76796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 Slide 3">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0" r="0" t="0"/>
          <a:stretch/>
        </p:blipFill>
        <p:spPr>
          <a:xfrm>
            <a:off x="2466" y="694"/>
            <a:ext cx="12189534" cy="6856612"/>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11104605" y="277805"/>
            <a:ext cx="529474" cy="764795"/>
          </a:xfrm>
          <a:prstGeom prst="rect">
            <a:avLst/>
          </a:prstGeom>
          <a:noFill/>
          <a:ln>
            <a:noFill/>
          </a:ln>
        </p:spPr>
      </p:pic>
      <p:sp>
        <p:nvSpPr>
          <p:cNvPr id="28" name="Google Shape;28;p4"/>
          <p:cNvSpPr txBox="1"/>
          <p:nvPr>
            <p:ph type="title"/>
          </p:nvPr>
        </p:nvSpPr>
        <p:spPr>
          <a:xfrm>
            <a:off x="0" y="2163545"/>
            <a:ext cx="12189530" cy="1614487"/>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2471" y="3694701"/>
            <a:ext cx="12189530" cy="78784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2" type="body"/>
          </p:nvPr>
        </p:nvSpPr>
        <p:spPr>
          <a:xfrm>
            <a:off x="0" y="4500134"/>
            <a:ext cx="12189530" cy="78784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 Slide 4">
    <p:spTree>
      <p:nvGrpSpPr>
        <p:cNvPr id="31" name="Shape 31"/>
        <p:cNvGrpSpPr/>
        <p:nvPr/>
      </p:nvGrpSpPr>
      <p:grpSpPr>
        <a:xfrm>
          <a:off x="0" y="0"/>
          <a:ext cx="0" cy="0"/>
          <a:chOff x="0" y="0"/>
          <a:chExt cx="0" cy="0"/>
        </a:xfrm>
      </p:grpSpPr>
      <p:pic>
        <p:nvPicPr>
          <p:cNvPr id="32" name="Google Shape;32;p5"/>
          <p:cNvPicPr preferRelativeResize="0"/>
          <p:nvPr/>
        </p:nvPicPr>
        <p:blipFill rotWithShape="1">
          <a:blip r:embed="rId2">
            <a:alphaModFix/>
          </a:blip>
          <a:srcRect b="0" l="0" r="0" t="0"/>
          <a:stretch/>
        </p:blipFill>
        <p:spPr>
          <a:xfrm>
            <a:off x="5639" y="3172"/>
            <a:ext cx="12180721" cy="6851656"/>
          </a:xfrm>
          <a:prstGeom prst="rect">
            <a:avLst/>
          </a:prstGeom>
          <a:noFill/>
          <a:ln>
            <a:noFill/>
          </a:ln>
        </p:spPr>
      </p:pic>
      <p:pic>
        <p:nvPicPr>
          <p:cNvPr id="33" name="Google Shape;33;p5"/>
          <p:cNvPicPr preferRelativeResize="0"/>
          <p:nvPr/>
        </p:nvPicPr>
        <p:blipFill rotWithShape="1">
          <a:blip r:embed="rId3">
            <a:alphaModFix/>
          </a:blip>
          <a:srcRect b="0" l="0" r="0" t="0"/>
          <a:stretch/>
        </p:blipFill>
        <p:spPr>
          <a:xfrm>
            <a:off x="11098275" y="279019"/>
            <a:ext cx="528575" cy="762367"/>
          </a:xfrm>
          <a:prstGeom prst="rect">
            <a:avLst/>
          </a:prstGeom>
          <a:noFill/>
          <a:ln>
            <a:noFill/>
          </a:ln>
        </p:spPr>
      </p:pic>
      <p:sp>
        <p:nvSpPr>
          <p:cNvPr id="34" name="Google Shape;34;p5"/>
          <p:cNvSpPr txBox="1"/>
          <p:nvPr>
            <p:ph type="title"/>
          </p:nvPr>
        </p:nvSpPr>
        <p:spPr>
          <a:xfrm>
            <a:off x="0" y="2163545"/>
            <a:ext cx="12189530" cy="1614487"/>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2471" y="3694701"/>
            <a:ext cx="12189530" cy="78784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0" y="4500134"/>
            <a:ext cx="12189530" cy="78784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1">
  <p:cSld name="Section Divider 1">
    <p:spTree>
      <p:nvGrpSpPr>
        <p:cNvPr id="37" name="Shape 37"/>
        <p:cNvGrpSpPr/>
        <p:nvPr/>
      </p:nvGrpSpPr>
      <p:grpSpPr>
        <a:xfrm>
          <a:off x="0" y="0"/>
          <a:ext cx="0" cy="0"/>
          <a:chOff x="0" y="0"/>
          <a:chExt cx="0" cy="0"/>
        </a:xfrm>
      </p:grpSpPr>
      <p:pic>
        <p:nvPicPr>
          <p:cNvPr id="38" name="Google Shape;38;p6"/>
          <p:cNvPicPr preferRelativeResize="0"/>
          <p:nvPr/>
        </p:nvPicPr>
        <p:blipFill rotWithShape="1">
          <a:blip r:embed="rId2">
            <a:alphaModFix/>
          </a:blip>
          <a:srcRect b="0" l="0" r="0" t="0"/>
          <a:stretch/>
        </p:blipFill>
        <p:spPr>
          <a:xfrm>
            <a:off x="2467" y="694"/>
            <a:ext cx="12189532" cy="6856612"/>
          </a:xfrm>
          <a:prstGeom prst="rect">
            <a:avLst/>
          </a:prstGeom>
          <a:noFill/>
          <a:ln>
            <a:noFill/>
          </a:ln>
        </p:spPr>
      </p:pic>
      <p:pic>
        <p:nvPicPr>
          <p:cNvPr id="39" name="Google Shape;39;p6"/>
          <p:cNvPicPr preferRelativeResize="0"/>
          <p:nvPr/>
        </p:nvPicPr>
        <p:blipFill rotWithShape="1">
          <a:blip r:embed="rId3">
            <a:alphaModFix/>
          </a:blip>
          <a:srcRect b="0" l="0" r="0" t="0"/>
          <a:stretch/>
        </p:blipFill>
        <p:spPr>
          <a:xfrm>
            <a:off x="11098275" y="279019"/>
            <a:ext cx="528575" cy="762367"/>
          </a:xfrm>
          <a:prstGeom prst="rect">
            <a:avLst/>
          </a:prstGeom>
          <a:noFill/>
          <a:ln>
            <a:noFill/>
          </a:ln>
        </p:spPr>
      </p:pic>
      <p:sp>
        <p:nvSpPr>
          <p:cNvPr id="40" name="Google Shape;40;p6"/>
          <p:cNvSpPr/>
          <p:nvPr/>
        </p:nvSpPr>
        <p:spPr>
          <a:xfrm>
            <a:off x="1390650" y="1832610"/>
            <a:ext cx="95250" cy="319278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1" name="Google Shape;41;p6"/>
          <p:cNvSpPr txBox="1"/>
          <p:nvPr>
            <p:ph type="title"/>
          </p:nvPr>
        </p:nvSpPr>
        <p:spPr>
          <a:xfrm>
            <a:off x="1627542" y="1832610"/>
            <a:ext cx="9470733"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8000"/>
              <a:buFont typeface="Arial"/>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1627542" y="3603292"/>
            <a:ext cx="9470733" cy="14220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6"/>
          <p:cNvSpPr txBox="1"/>
          <p:nvPr>
            <p:ph idx="2"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2">
  <p:cSld name="Section Divider 2">
    <p:spTree>
      <p:nvGrpSpPr>
        <p:cNvPr id="45" name="Shape 45"/>
        <p:cNvGrpSpPr/>
        <p:nvPr/>
      </p:nvGrpSpPr>
      <p:grpSpPr>
        <a:xfrm>
          <a:off x="0" y="0"/>
          <a:ext cx="0" cy="0"/>
          <a:chOff x="0" y="0"/>
          <a:chExt cx="0" cy="0"/>
        </a:xfrm>
      </p:grpSpPr>
      <p:pic>
        <p:nvPicPr>
          <p:cNvPr id="46" name="Google Shape;46;p7"/>
          <p:cNvPicPr preferRelativeResize="0"/>
          <p:nvPr/>
        </p:nvPicPr>
        <p:blipFill rotWithShape="1">
          <a:blip r:embed="rId2">
            <a:alphaModFix/>
          </a:blip>
          <a:srcRect b="0" l="0" r="0" t="0"/>
          <a:stretch/>
        </p:blipFill>
        <p:spPr>
          <a:xfrm>
            <a:off x="2466" y="694"/>
            <a:ext cx="12189533" cy="6856612"/>
          </a:xfrm>
          <a:prstGeom prst="rect">
            <a:avLst/>
          </a:prstGeom>
          <a:noFill/>
          <a:ln>
            <a:noFill/>
          </a:ln>
        </p:spPr>
      </p:pic>
      <p:pic>
        <p:nvPicPr>
          <p:cNvPr id="47" name="Google Shape;47;p7"/>
          <p:cNvPicPr preferRelativeResize="0"/>
          <p:nvPr/>
        </p:nvPicPr>
        <p:blipFill rotWithShape="1">
          <a:blip r:embed="rId3">
            <a:alphaModFix/>
          </a:blip>
          <a:srcRect b="0" l="0" r="0" t="0"/>
          <a:stretch/>
        </p:blipFill>
        <p:spPr>
          <a:xfrm>
            <a:off x="11104605" y="277805"/>
            <a:ext cx="529474" cy="764795"/>
          </a:xfrm>
          <a:prstGeom prst="rect">
            <a:avLst/>
          </a:prstGeom>
          <a:noFill/>
          <a:ln>
            <a:noFill/>
          </a:ln>
        </p:spPr>
      </p:pic>
      <p:sp>
        <p:nvSpPr>
          <p:cNvPr id="48" name="Google Shape;48;p7"/>
          <p:cNvSpPr/>
          <p:nvPr/>
        </p:nvSpPr>
        <p:spPr>
          <a:xfrm>
            <a:off x="1390650" y="1832610"/>
            <a:ext cx="95250" cy="3192780"/>
          </a:xfrm>
          <a:prstGeom prst="rect">
            <a:avLst/>
          </a:prstGeom>
          <a:solidFill>
            <a:srgbClr val="FF5F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9" name="Google Shape;49;p7"/>
          <p:cNvSpPr txBox="1"/>
          <p:nvPr>
            <p:ph type="title"/>
          </p:nvPr>
        </p:nvSpPr>
        <p:spPr>
          <a:xfrm>
            <a:off x="1627542" y="1832610"/>
            <a:ext cx="9470733"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8000"/>
              <a:buFont typeface="Arial"/>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body"/>
          </p:nvPr>
        </p:nvSpPr>
        <p:spPr>
          <a:xfrm>
            <a:off x="1627542" y="3603292"/>
            <a:ext cx="9470733" cy="14220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2"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3">
  <p:cSld name="Section Divider 3">
    <p:spTree>
      <p:nvGrpSpPr>
        <p:cNvPr id="53" name="Shape 53"/>
        <p:cNvGrpSpPr/>
        <p:nvPr/>
      </p:nvGrpSpPr>
      <p:grpSpPr>
        <a:xfrm>
          <a:off x="0" y="0"/>
          <a:ext cx="0" cy="0"/>
          <a:chOff x="0" y="0"/>
          <a:chExt cx="0" cy="0"/>
        </a:xfrm>
      </p:grpSpPr>
      <p:pic>
        <p:nvPicPr>
          <p:cNvPr id="54" name="Google Shape;54;p8"/>
          <p:cNvPicPr preferRelativeResize="0"/>
          <p:nvPr/>
        </p:nvPicPr>
        <p:blipFill rotWithShape="1">
          <a:blip r:embed="rId2">
            <a:alphaModFix/>
          </a:blip>
          <a:srcRect b="0" l="0" r="0" t="0"/>
          <a:stretch/>
        </p:blipFill>
        <p:spPr>
          <a:xfrm>
            <a:off x="2466" y="694"/>
            <a:ext cx="12189532" cy="6856612"/>
          </a:xfrm>
          <a:prstGeom prst="rect">
            <a:avLst/>
          </a:prstGeom>
          <a:noFill/>
          <a:ln>
            <a:noFill/>
          </a:ln>
        </p:spPr>
      </p:pic>
      <p:pic>
        <p:nvPicPr>
          <p:cNvPr id="55" name="Google Shape;55;p8"/>
          <p:cNvPicPr preferRelativeResize="0"/>
          <p:nvPr/>
        </p:nvPicPr>
        <p:blipFill rotWithShape="1">
          <a:blip r:embed="rId3">
            <a:alphaModFix/>
          </a:blip>
          <a:srcRect b="0" l="0" r="0" t="0"/>
          <a:stretch/>
        </p:blipFill>
        <p:spPr>
          <a:xfrm>
            <a:off x="11098275" y="279019"/>
            <a:ext cx="528575" cy="762367"/>
          </a:xfrm>
          <a:prstGeom prst="rect">
            <a:avLst/>
          </a:prstGeom>
          <a:noFill/>
          <a:ln>
            <a:noFill/>
          </a:ln>
        </p:spPr>
      </p:pic>
      <p:sp>
        <p:nvSpPr>
          <p:cNvPr id="56" name="Google Shape;56;p8"/>
          <p:cNvSpPr/>
          <p:nvPr/>
        </p:nvSpPr>
        <p:spPr>
          <a:xfrm>
            <a:off x="1390650" y="1832610"/>
            <a:ext cx="95250" cy="319278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7" name="Google Shape;57;p8"/>
          <p:cNvSpPr txBox="1"/>
          <p:nvPr>
            <p:ph type="title"/>
          </p:nvPr>
        </p:nvSpPr>
        <p:spPr>
          <a:xfrm>
            <a:off x="1627542" y="1832610"/>
            <a:ext cx="9470733"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8000"/>
              <a:buFont typeface="Arial"/>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8"/>
          <p:cNvSpPr txBox="1"/>
          <p:nvPr>
            <p:ph idx="1" type="body"/>
          </p:nvPr>
        </p:nvSpPr>
        <p:spPr>
          <a:xfrm>
            <a:off x="1627542" y="3603292"/>
            <a:ext cx="9470733" cy="14220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8"/>
          <p:cNvSpPr txBox="1"/>
          <p:nvPr>
            <p:ph idx="2"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4">
  <p:cSld name="Section Divider 4">
    <p:spTree>
      <p:nvGrpSpPr>
        <p:cNvPr id="61" name="Shape 61"/>
        <p:cNvGrpSpPr/>
        <p:nvPr/>
      </p:nvGrpSpPr>
      <p:grpSpPr>
        <a:xfrm>
          <a:off x="0" y="0"/>
          <a:ext cx="0" cy="0"/>
          <a:chOff x="0" y="0"/>
          <a:chExt cx="0" cy="0"/>
        </a:xfrm>
      </p:grpSpPr>
      <p:pic>
        <p:nvPicPr>
          <p:cNvPr id="62" name="Google Shape;62;p9"/>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63" name="Google Shape;63;p9"/>
          <p:cNvPicPr preferRelativeResize="0"/>
          <p:nvPr/>
        </p:nvPicPr>
        <p:blipFill rotWithShape="1">
          <a:blip r:embed="rId3">
            <a:alphaModFix/>
          </a:blip>
          <a:srcRect b="0" l="0" r="0" t="0"/>
          <a:stretch/>
        </p:blipFill>
        <p:spPr>
          <a:xfrm>
            <a:off x="11104605" y="277805"/>
            <a:ext cx="529474" cy="764795"/>
          </a:xfrm>
          <a:prstGeom prst="rect">
            <a:avLst/>
          </a:prstGeom>
          <a:noFill/>
          <a:ln>
            <a:noFill/>
          </a:ln>
        </p:spPr>
      </p:pic>
      <p:sp>
        <p:nvSpPr>
          <p:cNvPr id="64" name="Google Shape;64;p9"/>
          <p:cNvSpPr/>
          <p:nvPr/>
        </p:nvSpPr>
        <p:spPr>
          <a:xfrm>
            <a:off x="1390650" y="1832610"/>
            <a:ext cx="95250" cy="3192780"/>
          </a:xfrm>
          <a:prstGeom prst="rect">
            <a:avLst/>
          </a:prstGeom>
          <a:solidFill>
            <a:srgbClr val="FF5F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5" name="Google Shape;65;p9"/>
          <p:cNvSpPr txBox="1"/>
          <p:nvPr>
            <p:ph type="title"/>
          </p:nvPr>
        </p:nvSpPr>
        <p:spPr>
          <a:xfrm>
            <a:off x="1627542" y="1832610"/>
            <a:ext cx="9470733"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8000"/>
              <a:buFont typeface="Arial"/>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627542" y="3603292"/>
            <a:ext cx="9470733" cy="14220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9"/>
          <p:cNvSpPr txBox="1"/>
          <p:nvPr>
            <p:ph idx="2"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1">
  <p:cSld name="Transition Slide 1">
    <p:spTree>
      <p:nvGrpSpPr>
        <p:cNvPr id="69" name="Shape 69"/>
        <p:cNvGrpSpPr/>
        <p:nvPr/>
      </p:nvGrpSpPr>
      <p:grpSpPr>
        <a:xfrm>
          <a:off x="0" y="0"/>
          <a:ext cx="0" cy="0"/>
          <a:chOff x="0" y="0"/>
          <a:chExt cx="0" cy="0"/>
        </a:xfrm>
      </p:grpSpPr>
      <p:pic>
        <p:nvPicPr>
          <p:cNvPr id="70" name="Google Shape;70;p10"/>
          <p:cNvPicPr preferRelativeResize="0"/>
          <p:nvPr/>
        </p:nvPicPr>
        <p:blipFill rotWithShape="1">
          <a:blip r:embed="rId2">
            <a:alphaModFix/>
          </a:blip>
          <a:srcRect b="0" l="0" r="0" t="0"/>
          <a:stretch/>
        </p:blipFill>
        <p:spPr>
          <a:xfrm>
            <a:off x="0" y="1785"/>
            <a:ext cx="12192000" cy="6854430"/>
          </a:xfrm>
          <a:prstGeom prst="rect">
            <a:avLst/>
          </a:prstGeom>
          <a:noFill/>
          <a:ln>
            <a:noFill/>
          </a:ln>
        </p:spPr>
      </p:pic>
      <p:pic>
        <p:nvPicPr>
          <p:cNvPr id="71" name="Google Shape;71;p10"/>
          <p:cNvPicPr preferRelativeResize="0"/>
          <p:nvPr/>
        </p:nvPicPr>
        <p:blipFill rotWithShape="1">
          <a:blip r:embed="rId3">
            <a:alphaModFix/>
          </a:blip>
          <a:srcRect b="0" l="0" r="0" t="0"/>
          <a:stretch/>
        </p:blipFill>
        <p:spPr>
          <a:xfrm>
            <a:off x="11104605" y="277805"/>
            <a:ext cx="529474" cy="764795"/>
          </a:xfrm>
          <a:prstGeom prst="rect">
            <a:avLst/>
          </a:prstGeom>
          <a:noFill/>
          <a:ln>
            <a:noFill/>
          </a:ln>
        </p:spPr>
      </p:pic>
      <p:sp>
        <p:nvSpPr>
          <p:cNvPr id="72" name="Google Shape;72;p10"/>
          <p:cNvSpPr/>
          <p:nvPr/>
        </p:nvSpPr>
        <p:spPr>
          <a:xfrm>
            <a:off x="5455664" y="4159281"/>
            <a:ext cx="1275549" cy="141956"/>
          </a:xfrm>
          <a:prstGeom prst="rect">
            <a:avLst/>
          </a:prstGeom>
          <a:solidFill>
            <a:srgbClr val="FF5F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3" name="Google Shape;73;p10"/>
          <p:cNvSpPr txBox="1"/>
          <p:nvPr>
            <p:ph type="title"/>
          </p:nvPr>
        </p:nvSpPr>
        <p:spPr>
          <a:xfrm>
            <a:off x="838200" y="2687996"/>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
          <p:cNvSpPr txBox="1"/>
          <p:nvPr>
            <p:ph idx="1"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2">
  <p:cSld name="Transition Slide 2">
    <p:spTree>
      <p:nvGrpSpPr>
        <p:cNvPr id="76" name="Shape 76"/>
        <p:cNvGrpSpPr/>
        <p:nvPr/>
      </p:nvGrpSpPr>
      <p:grpSpPr>
        <a:xfrm>
          <a:off x="0" y="0"/>
          <a:ext cx="0" cy="0"/>
          <a:chOff x="0" y="0"/>
          <a:chExt cx="0" cy="0"/>
        </a:xfrm>
      </p:grpSpPr>
      <p:pic>
        <p:nvPicPr>
          <p:cNvPr id="77" name="Google Shape;77;p11"/>
          <p:cNvPicPr preferRelativeResize="0"/>
          <p:nvPr/>
        </p:nvPicPr>
        <p:blipFill rotWithShape="1">
          <a:blip r:embed="rId2">
            <a:alphaModFix/>
          </a:blip>
          <a:srcRect b="0" l="0" r="0" t="0"/>
          <a:stretch/>
        </p:blipFill>
        <p:spPr>
          <a:xfrm>
            <a:off x="2467" y="0"/>
            <a:ext cx="12187066" cy="6858000"/>
          </a:xfrm>
          <a:prstGeom prst="rect">
            <a:avLst/>
          </a:prstGeom>
          <a:noFill/>
          <a:ln>
            <a:noFill/>
          </a:ln>
        </p:spPr>
      </p:pic>
      <p:pic>
        <p:nvPicPr>
          <p:cNvPr id="78" name="Google Shape;78;p11"/>
          <p:cNvPicPr preferRelativeResize="0"/>
          <p:nvPr/>
        </p:nvPicPr>
        <p:blipFill rotWithShape="1">
          <a:blip r:embed="rId3">
            <a:alphaModFix/>
          </a:blip>
          <a:srcRect b="0" l="0" r="0" t="0"/>
          <a:stretch/>
        </p:blipFill>
        <p:spPr>
          <a:xfrm>
            <a:off x="11098275" y="277804"/>
            <a:ext cx="528575" cy="764797"/>
          </a:xfrm>
          <a:prstGeom prst="rect">
            <a:avLst/>
          </a:prstGeom>
          <a:noFill/>
          <a:ln>
            <a:noFill/>
          </a:ln>
        </p:spPr>
      </p:pic>
      <p:sp>
        <p:nvSpPr>
          <p:cNvPr id="79" name="Google Shape;79;p11"/>
          <p:cNvSpPr/>
          <p:nvPr/>
        </p:nvSpPr>
        <p:spPr>
          <a:xfrm>
            <a:off x="5455664" y="4159281"/>
            <a:ext cx="1275549" cy="14195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0" name="Google Shape;80;p11"/>
          <p:cNvSpPr txBox="1"/>
          <p:nvPr>
            <p:ph type="title"/>
          </p:nvPr>
        </p:nvSpPr>
        <p:spPr>
          <a:xfrm>
            <a:off x="838200" y="2687996"/>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
          <p:cNvSpPr txBox="1"/>
          <p:nvPr>
            <p:ph idx="1"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1">
  <p:cSld name="Content Slide 1">
    <p:spTree>
      <p:nvGrpSpPr>
        <p:cNvPr id="83" name="Shape 83"/>
        <p:cNvGrpSpPr/>
        <p:nvPr/>
      </p:nvGrpSpPr>
      <p:grpSpPr>
        <a:xfrm>
          <a:off x="0" y="0"/>
          <a:ext cx="0" cy="0"/>
          <a:chOff x="0" y="0"/>
          <a:chExt cx="0" cy="0"/>
        </a:xfrm>
      </p:grpSpPr>
      <p:sp>
        <p:nvSpPr>
          <p:cNvPr id="84" name="Google Shape;84;p12"/>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85" name="Google Shape;85;p12"/>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86" name="Google Shape;86;p12"/>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7" name="Google Shape;87;p12"/>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a:off x="652463" y="1795749"/>
            <a:ext cx="10370190" cy="412030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2"/>
          <p:cNvSpPr txBox="1"/>
          <p:nvPr>
            <p:ph idx="2"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2">
  <p:cSld name="Content Slide 2">
    <p:spTree>
      <p:nvGrpSpPr>
        <p:cNvPr id="91" name="Shape 91"/>
        <p:cNvGrpSpPr/>
        <p:nvPr/>
      </p:nvGrpSpPr>
      <p:grpSpPr>
        <a:xfrm>
          <a:off x="0" y="0"/>
          <a:ext cx="0" cy="0"/>
          <a:chOff x="0" y="0"/>
          <a:chExt cx="0" cy="0"/>
        </a:xfrm>
      </p:grpSpPr>
      <p:sp>
        <p:nvSpPr>
          <p:cNvPr id="92" name="Google Shape;92;p13"/>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93" name="Google Shape;93;p13"/>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94" name="Google Shape;94;p13"/>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3"/>
          <p:cNvSpPr txBox="1"/>
          <p:nvPr>
            <p:ph idx="1" type="body"/>
          </p:nvPr>
        </p:nvSpPr>
        <p:spPr>
          <a:xfrm>
            <a:off x="654228" y="1913536"/>
            <a:ext cx="10370191"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2"/>
              </a:buClr>
              <a:buSzPts val="3000"/>
              <a:buNone/>
              <a:defRPr sz="3000">
                <a:solidFill>
                  <a:schemeClr val="l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13"/>
          <p:cNvSpPr txBox="1"/>
          <p:nvPr>
            <p:ph idx="2" type="body"/>
          </p:nvPr>
        </p:nvSpPr>
        <p:spPr>
          <a:xfrm>
            <a:off x="652463" y="2688805"/>
            <a:ext cx="10370190" cy="9631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13"/>
          <p:cNvSpPr txBox="1"/>
          <p:nvPr>
            <p:ph idx="3" type="body"/>
          </p:nvPr>
        </p:nvSpPr>
        <p:spPr>
          <a:xfrm>
            <a:off x="654228" y="3957788"/>
            <a:ext cx="10370191"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dk2"/>
              </a:buClr>
              <a:buSzPts val="3000"/>
              <a:buNone/>
              <a:defRPr sz="3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3"/>
          <p:cNvSpPr txBox="1"/>
          <p:nvPr>
            <p:ph idx="4" type="body"/>
          </p:nvPr>
        </p:nvSpPr>
        <p:spPr>
          <a:xfrm>
            <a:off x="652463" y="4733057"/>
            <a:ext cx="10370190" cy="9631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13"/>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13"/>
          <p:cNvSpPr txBox="1"/>
          <p:nvPr>
            <p:ph idx="5"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3">
  <p:cSld name="Content Slide 3">
    <p:spTree>
      <p:nvGrpSpPr>
        <p:cNvPr id="102" name="Shape 102"/>
        <p:cNvGrpSpPr/>
        <p:nvPr/>
      </p:nvGrpSpPr>
      <p:grpSpPr>
        <a:xfrm>
          <a:off x="0" y="0"/>
          <a:ext cx="0" cy="0"/>
          <a:chOff x="0" y="0"/>
          <a:chExt cx="0" cy="0"/>
        </a:xfrm>
      </p:grpSpPr>
      <p:pic>
        <p:nvPicPr>
          <p:cNvPr id="103" name="Google Shape;103;p14"/>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04" name="Google Shape;104;p14"/>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5" name="Google Shape;105;p14"/>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a:off x="654228" y="2009998"/>
            <a:ext cx="4876417"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2"/>
              </a:buClr>
              <a:buSzPts val="3000"/>
              <a:buNone/>
              <a:defRPr sz="3000">
                <a:solidFill>
                  <a:schemeClr val="l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4"/>
          <p:cNvSpPr txBox="1"/>
          <p:nvPr>
            <p:ph idx="2" type="body"/>
          </p:nvPr>
        </p:nvSpPr>
        <p:spPr>
          <a:xfrm>
            <a:off x="652463" y="2785267"/>
            <a:ext cx="4876417" cy="2155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14"/>
          <p:cNvSpPr txBox="1"/>
          <p:nvPr>
            <p:ph idx="3" type="body"/>
          </p:nvPr>
        </p:nvSpPr>
        <p:spPr>
          <a:xfrm>
            <a:off x="6148002" y="2009998"/>
            <a:ext cx="4876417"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dk2"/>
              </a:buClr>
              <a:buSzPts val="3000"/>
              <a:buNone/>
              <a:defRPr sz="3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14"/>
          <p:cNvSpPr txBox="1"/>
          <p:nvPr>
            <p:ph idx="4" type="body"/>
          </p:nvPr>
        </p:nvSpPr>
        <p:spPr>
          <a:xfrm>
            <a:off x="6146237" y="2785267"/>
            <a:ext cx="4876417" cy="2155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4"/>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1" name="Google Shape;111;p14"/>
          <p:cNvSpPr txBox="1"/>
          <p:nvPr>
            <p:ph idx="5"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4">
  <p:cSld name="Content Slide 4">
    <p:spTree>
      <p:nvGrpSpPr>
        <p:cNvPr id="113" name="Shape 113"/>
        <p:cNvGrpSpPr/>
        <p:nvPr/>
      </p:nvGrpSpPr>
      <p:grpSpPr>
        <a:xfrm>
          <a:off x="0" y="0"/>
          <a:ext cx="0" cy="0"/>
          <a:chOff x="0" y="0"/>
          <a:chExt cx="0" cy="0"/>
        </a:xfrm>
      </p:grpSpPr>
      <p:sp>
        <p:nvSpPr>
          <p:cNvPr id="114" name="Google Shape;114;p15"/>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15" name="Google Shape;115;p15"/>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16" name="Google Shape;116;p15"/>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5"/>
          <p:cNvSpPr txBox="1"/>
          <p:nvPr>
            <p:ph idx="1" type="body"/>
          </p:nvPr>
        </p:nvSpPr>
        <p:spPr>
          <a:xfrm>
            <a:off x="654228" y="2009998"/>
            <a:ext cx="4876417"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2"/>
              </a:buClr>
              <a:buSzPts val="3000"/>
              <a:buNone/>
              <a:defRPr sz="3000">
                <a:solidFill>
                  <a:schemeClr val="l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5"/>
          <p:cNvSpPr txBox="1"/>
          <p:nvPr>
            <p:ph idx="2" type="body"/>
          </p:nvPr>
        </p:nvSpPr>
        <p:spPr>
          <a:xfrm>
            <a:off x="651081" y="2774950"/>
            <a:ext cx="4876417" cy="266858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Font typeface="Courier New"/>
              <a:buChar char="o"/>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42900" lvl="2" marL="1371600" algn="l">
              <a:lnSpc>
                <a:spcPct val="90000"/>
              </a:lnSpc>
              <a:spcBef>
                <a:spcPts val="500"/>
              </a:spcBef>
              <a:spcAft>
                <a:spcPts val="0"/>
              </a:spcAft>
              <a:buClr>
                <a:schemeClr val="dk1"/>
              </a:buClr>
              <a:buSzPts val="1800"/>
              <a:buFont typeface="Courier New"/>
              <a:buChar char="o"/>
              <a:defRPr sz="1800"/>
            </a:lvl3pPr>
            <a:lvl4pPr indent="-342900" lvl="3" marL="1828800" algn="l">
              <a:lnSpc>
                <a:spcPct val="90000"/>
              </a:lnSpc>
              <a:spcBef>
                <a:spcPts val="500"/>
              </a:spcBef>
              <a:spcAft>
                <a:spcPts val="0"/>
              </a:spcAft>
              <a:buClr>
                <a:schemeClr val="dk1"/>
              </a:buClr>
              <a:buSzPts val="1800"/>
              <a:buFont typeface="Courier New"/>
              <a:buChar char="o"/>
              <a:defRPr/>
            </a:lvl4pPr>
            <a:lvl5pPr indent="-342900" lvl="4" marL="2286000" algn="l">
              <a:lnSpc>
                <a:spcPct val="90000"/>
              </a:lnSpc>
              <a:spcBef>
                <a:spcPts val="500"/>
              </a:spcBef>
              <a:spcAft>
                <a:spcPts val="0"/>
              </a:spcAft>
              <a:buClr>
                <a:schemeClr val="dk1"/>
              </a:buClr>
              <a:buSzPts val="1800"/>
              <a:buFont typeface="Courier New"/>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5"/>
          <p:cNvSpPr txBox="1"/>
          <p:nvPr>
            <p:ph idx="3" type="body"/>
          </p:nvPr>
        </p:nvSpPr>
        <p:spPr>
          <a:xfrm>
            <a:off x="6148002" y="2009998"/>
            <a:ext cx="4876417"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dk2"/>
              </a:buClr>
              <a:buSzPts val="3000"/>
              <a:buNone/>
              <a:defRPr sz="3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5"/>
          <p:cNvSpPr txBox="1"/>
          <p:nvPr>
            <p:ph idx="4" type="body"/>
          </p:nvPr>
        </p:nvSpPr>
        <p:spPr>
          <a:xfrm>
            <a:off x="6144855" y="2774797"/>
            <a:ext cx="4876417" cy="266858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Font typeface="Courier New"/>
              <a:buChar char="o"/>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42900" lvl="2" marL="1371600" algn="l">
              <a:lnSpc>
                <a:spcPct val="90000"/>
              </a:lnSpc>
              <a:spcBef>
                <a:spcPts val="500"/>
              </a:spcBef>
              <a:spcAft>
                <a:spcPts val="0"/>
              </a:spcAft>
              <a:buClr>
                <a:schemeClr val="dk1"/>
              </a:buClr>
              <a:buSzPts val="1800"/>
              <a:buFont typeface="Courier New"/>
              <a:buChar char="o"/>
              <a:defRPr sz="1800"/>
            </a:lvl3pPr>
            <a:lvl4pPr indent="-342900" lvl="3" marL="1828800" algn="l">
              <a:lnSpc>
                <a:spcPct val="90000"/>
              </a:lnSpc>
              <a:spcBef>
                <a:spcPts val="500"/>
              </a:spcBef>
              <a:spcAft>
                <a:spcPts val="0"/>
              </a:spcAft>
              <a:buClr>
                <a:schemeClr val="dk1"/>
              </a:buClr>
              <a:buSzPts val="1800"/>
              <a:buFont typeface="Courier New"/>
              <a:buChar char="o"/>
              <a:defRPr/>
            </a:lvl4pPr>
            <a:lvl5pPr indent="-342900" lvl="4" marL="2286000" algn="l">
              <a:lnSpc>
                <a:spcPct val="90000"/>
              </a:lnSpc>
              <a:spcBef>
                <a:spcPts val="500"/>
              </a:spcBef>
              <a:spcAft>
                <a:spcPts val="0"/>
              </a:spcAft>
              <a:buClr>
                <a:schemeClr val="dk1"/>
              </a:buClr>
              <a:buSzPts val="1800"/>
              <a:buFont typeface="Courier New"/>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5"/>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2" name="Google Shape;122;p15"/>
          <p:cNvSpPr txBox="1"/>
          <p:nvPr>
            <p:ph idx="5"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p:cSld name="Quote Slide">
    <p:spTree>
      <p:nvGrpSpPr>
        <p:cNvPr id="124" name="Shape 124"/>
        <p:cNvGrpSpPr/>
        <p:nvPr/>
      </p:nvGrpSpPr>
      <p:grpSpPr>
        <a:xfrm>
          <a:off x="0" y="0"/>
          <a:ext cx="0" cy="0"/>
          <a:chOff x="0" y="0"/>
          <a:chExt cx="0" cy="0"/>
        </a:xfrm>
      </p:grpSpPr>
      <p:pic>
        <p:nvPicPr>
          <p:cNvPr id="125" name="Google Shape;125;p16"/>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26" name="Google Shape;126;p16"/>
          <p:cNvSpPr txBox="1"/>
          <p:nvPr>
            <p:ph type="title"/>
          </p:nvPr>
        </p:nvSpPr>
        <p:spPr>
          <a:xfrm>
            <a:off x="3051180" y="1291652"/>
            <a:ext cx="6189488" cy="8077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6"/>
          <p:cNvSpPr txBox="1"/>
          <p:nvPr/>
        </p:nvSpPr>
        <p:spPr>
          <a:xfrm>
            <a:off x="2273810" y="1167968"/>
            <a:ext cx="1184622" cy="1373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2"/>
              </a:buClr>
              <a:buSzPts val="9600"/>
              <a:buFont typeface="Arial"/>
              <a:buNone/>
            </a:pPr>
            <a:r>
              <a:rPr b="0" i="0" lang="en-US" sz="9600" u="none" cap="none" strike="noStrike">
                <a:solidFill>
                  <a:schemeClr val="lt2"/>
                </a:solidFill>
                <a:latin typeface="Arial"/>
                <a:ea typeface="Arial"/>
                <a:cs typeface="Arial"/>
                <a:sym typeface="Arial"/>
              </a:rPr>
              <a:t>“</a:t>
            </a:r>
            <a:endParaRPr/>
          </a:p>
        </p:txBody>
      </p:sp>
      <p:sp>
        <p:nvSpPr>
          <p:cNvPr id="128" name="Google Shape;128;p16"/>
          <p:cNvSpPr txBox="1"/>
          <p:nvPr/>
        </p:nvSpPr>
        <p:spPr>
          <a:xfrm>
            <a:off x="9140821" y="1185256"/>
            <a:ext cx="1184622" cy="1373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2"/>
              </a:buClr>
              <a:buSzPts val="9600"/>
              <a:buFont typeface="Arial"/>
              <a:buNone/>
            </a:pPr>
            <a:r>
              <a:rPr b="0" i="0" lang="en-US" sz="9600" u="none" cap="none" strike="noStrike">
                <a:solidFill>
                  <a:schemeClr val="lt2"/>
                </a:solidFill>
                <a:latin typeface="Arial"/>
                <a:ea typeface="Arial"/>
                <a:cs typeface="Arial"/>
                <a:sym typeface="Arial"/>
              </a:rPr>
              <a:t>”</a:t>
            </a:r>
            <a:endParaRPr/>
          </a:p>
        </p:txBody>
      </p:sp>
      <p:sp>
        <p:nvSpPr>
          <p:cNvPr id="129" name="Google Shape;129;p16"/>
          <p:cNvSpPr txBox="1"/>
          <p:nvPr>
            <p:ph idx="1" type="body"/>
          </p:nvPr>
        </p:nvSpPr>
        <p:spPr>
          <a:xfrm>
            <a:off x="7127193" y="2116732"/>
            <a:ext cx="2113474" cy="429881"/>
          </a:xfrm>
          <a:prstGeom prst="rect">
            <a:avLst/>
          </a:prstGeom>
          <a:noFill/>
          <a:ln>
            <a:noFill/>
          </a:ln>
        </p:spPr>
        <p:txBody>
          <a:bodyPr anchorCtr="0" anchor="ctr" bIns="45700" lIns="91425" spcFirstLastPara="1" rIns="91425" wrap="square" tIns="45700">
            <a:normAutofit/>
          </a:bodyPr>
          <a:lstStyle>
            <a:lvl1pPr indent="-228600" lvl="0" marL="457200" algn="r">
              <a:lnSpc>
                <a:spcPct val="70000"/>
              </a:lnSpc>
              <a:spcBef>
                <a:spcPts val="1000"/>
              </a:spcBef>
              <a:spcAft>
                <a:spcPts val="0"/>
              </a:spcAft>
              <a:buClr>
                <a:schemeClr val="dk2"/>
              </a:buClr>
              <a:buSzPts val="2000"/>
              <a:buNone/>
              <a:defRPr sz="2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6"/>
          <p:cNvSpPr txBox="1"/>
          <p:nvPr/>
        </p:nvSpPr>
        <p:spPr>
          <a:xfrm>
            <a:off x="2273810" y="3477024"/>
            <a:ext cx="1184622" cy="1373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5F05"/>
              </a:buClr>
              <a:buSzPts val="9600"/>
              <a:buFont typeface="Arial"/>
              <a:buNone/>
            </a:pPr>
            <a:r>
              <a:rPr b="0" i="0" lang="en-US" sz="9600" u="none" cap="none" strike="noStrike">
                <a:solidFill>
                  <a:srgbClr val="FF5F05"/>
                </a:solidFill>
                <a:latin typeface="Arial"/>
                <a:ea typeface="Arial"/>
                <a:cs typeface="Arial"/>
                <a:sym typeface="Arial"/>
              </a:rPr>
              <a:t>“</a:t>
            </a:r>
            <a:endParaRPr/>
          </a:p>
        </p:txBody>
      </p:sp>
      <p:sp>
        <p:nvSpPr>
          <p:cNvPr id="131" name="Google Shape;131;p16"/>
          <p:cNvSpPr txBox="1"/>
          <p:nvPr/>
        </p:nvSpPr>
        <p:spPr>
          <a:xfrm>
            <a:off x="9088267" y="3494312"/>
            <a:ext cx="1184622" cy="1373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2"/>
              </a:buClr>
              <a:buSzPts val="9600"/>
              <a:buFont typeface="Arial"/>
              <a:buNone/>
            </a:pPr>
            <a:r>
              <a:rPr b="0" i="0" lang="en-US" sz="9600" u="none" cap="none" strike="noStrike">
                <a:solidFill>
                  <a:schemeClr val="lt2"/>
                </a:solidFill>
                <a:latin typeface="Arial"/>
                <a:ea typeface="Arial"/>
                <a:cs typeface="Arial"/>
                <a:sym typeface="Arial"/>
              </a:rPr>
              <a:t>”</a:t>
            </a:r>
            <a:endParaRPr/>
          </a:p>
        </p:txBody>
      </p:sp>
      <p:sp>
        <p:nvSpPr>
          <p:cNvPr id="132" name="Google Shape;132;p16"/>
          <p:cNvSpPr txBox="1"/>
          <p:nvPr>
            <p:ph idx="2" type="body"/>
          </p:nvPr>
        </p:nvSpPr>
        <p:spPr>
          <a:xfrm>
            <a:off x="3060741" y="3501730"/>
            <a:ext cx="6179926" cy="1507248"/>
          </a:xfrm>
          <a:prstGeom prst="rect">
            <a:avLst/>
          </a:prstGeom>
          <a:noFill/>
          <a:ln>
            <a:noFill/>
          </a:ln>
        </p:spPr>
        <p:txBody>
          <a:bodyPr anchorCtr="0" anchor="ctr" bIns="45700" lIns="91425" spcFirstLastPara="1" rIns="91425" wrap="square" tIns="45700">
            <a:normAutofit/>
          </a:bodyPr>
          <a:lstStyle>
            <a:lvl1pPr indent="-228600" lvl="0" marL="457200" algn="ctr">
              <a:lnSpc>
                <a:spcPct val="70000"/>
              </a:lnSpc>
              <a:spcBef>
                <a:spcPts val="1000"/>
              </a:spcBef>
              <a:spcAft>
                <a:spcPts val="0"/>
              </a:spcAft>
              <a:buClr>
                <a:schemeClr val="dk2"/>
              </a:buClr>
              <a:buSzPts val="2400"/>
              <a:buNone/>
              <a:defRPr sz="24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6"/>
          <p:cNvSpPr txBox="1"/>
          <p:nvPr>
            <p:ph idx="3" type="body"/>
          </p:nvPr>
        </p:nvSpPr>
        <p:spPr>
          <a:xfrm>
            <a:off x="7127193" y="5065124"/>
            <a:ext cx="2113474" cy="429881"/>
          </a:xfrm>
          <a:prstGeom prst="rect">
            <a:avLst/>
          </a:prstGeom>
          <a:noFill/>
          <a:ln>
            <a:noFill/>
          </a:ln>
        </p:spPr>
        <p:txBody>
          <a:bodyPr anchorCtr="0" anchor="ctr" bIns="45700" lIns="91425" spcFirstLastPara="1" rIns="91425" wrap="square" tIns="45700">
            <a:normAutofit/>
          </a:bodyPr>
          <a:lstStyle>
            <a:lvl1pPr indent="-228600" lvl="0" marL="457200" algn="r">
              <a:lnSpc>
                <a:spcPct val="70000"/>
              </a:lnSpc>
              <a:spcBef>
                <a:spcPts val="1000"/>
              </a:spcBef>
              <a:spcAft>
                <a:spcPts val="0"/>
              </a:spcAft>
              <a:buClr>
                <a:schemeClr val="dk2"/>
              </a:buClr>
              <a:buSzPts val="2000"/>
              <a:buNone/>
              <a:defRPr sz="2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6"/>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5" name="Google Shape;135;p16"/>
          <p:cNvSpPr txBox="1"/>
          <p:nvPr>
            <p:ph idx="4"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1">
  <p:cSld name="Image Slide 1">
    <p:spTree>
      <p:nvGrpSpPr>
        <p:cNvPr id="137" name="Shape 137"/>
        <p:cNvGrpSpPr/>
        <p:nvPr/>
      </p:nvGrpSpPr>
      <p:grpSpPr>
        <a:xfrm>
          <a:off x="0" y="0"/>
          <a:ext cx="0" cy="0"/>
          <a:chOff x="0" y="0"/>
          <a:chExt cx="0" cy="0"/>
        </a:xfrm>
      </p:grpSpPr>
      <p:sp>
        <p:nvSpPr>
          <p:cNvPr id="138" name="Google Shape;138;p17"/>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39" name="Google Shape;139;p17"/>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40" name="Google Shape;140;p17"/>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17"/>
          <p:cNvSpPr/>
          <p:nvPr>
            <p:ph idx="2" type="pic"/>
          </p:nvPr>
        </p:nvSpPr>
        <p:spPr>
          <a:xfrm>
            <a:off x="554038" y="1786687"/>
            <a:ext cx="4738687" cy="2042930"/>
          </a:xfrm>
          <a:prstGeom prst="rect">
            <a:avLst/>
          </a:prstGeom>
          <a:solidFill>
            <a:srgbClr val="BFBFBF"/>
          </a:solidFill>
          <a:ln>
            <a:noFill/>
          </a:ln>
        </p:spPr>
      </p:sp>
      <p:sp>
        <p:nvSpPr>
          <p:cNvPr id="142" name="Google Shape;142;p17"/>
          <p:cNvSpPr txBox="1"/>
          <p:nvPr>
            <p:ph idx="1" type="body"/>
          </p:nvPr>
        </p:nvSpPr>
        <p:spPr>
          <a:xfrm>
            <a:off x="5477348" y="1786687"/>
            <a:ext cx="5547072"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2"/>
              </a:buClr>
              <a:buSzPts val="3000"/>
              <a:buNone/>
              <a:defRPr sz="3000">
                <a:solidFill>
                  <a:schemeClr val="l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17"/>
          <p:cNvSpPr txBox="1"/>
          <p:nvPr>
            <p:ph idx="3" type="body"/>
          </p:nvPr>
        </p:nvSpPr>
        <p:spPr>
          <a:xfrm>
            <a:off x="5475583" y="2561957"/>
            <a:ext cx="5547072"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17"/>
          <p:cNvSpPr/>
          <p:nvPr>
            <p:ph idx="4" type="pic"/>
          </p:nvPr>
        </p:nvSpPr>
        <p:spPr>
          <a:xfrm>
            <a:off x="552273" y="3924115"/>
            <a:ext cx="4738687" cy="2042930"/>
          </a:xfrm>
          <a:prstGeom prst="rect">
            <a:avLst/>
          </a:prstGeom>
          <a:solidFill>
            <a:srgbClr val="BFBFBF"/>
          </a:solidFill>
          <a:ln>
            <a:noFill/>
          </a:ln>
        </p:spPr>
      </p:sp>
      <p:sp>
        <p:nvSpPr>
          <p:cNvPr id="145" name="Google Shape;145;p17"/>
          <p:cNvSpPr txBox="1"/>
          <p:nvPr>
            <p:ph idx="5" type="body"/>
          </p:nvPr>
        </p:nvSpPr>
        <p:spPr>
          <a:xfrm>
            <a:off x="5475583" y="3924115"/>
            <a:ext cx="5547072"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dk2"/>
              </a:buClr>
              <a:buSzPts val="3000"/>
              <a:buNone/>
              <a:defRPr sz="3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7"/>
          <p:cNvSpPr txBox="1"/>
          <p:nvPr>
            <p:ph idx="6" type="body"/>
          </p:nvPr>
        </p:nvSpPr>
        <p:spPr>
          <a:xfrm>
            <a:off x="5473818" y="4699385"/>
            <a:ext cx="5547072"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7"/>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8" name="Google Shape;148;p17"/>
          <p:cNvSpPr txBox="1"/>
          <p:nvPr>
            <p:ph idx="7"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2">
  <p:cSld name="Image Slide 2">
    <p:spTree>
      <p:nvGrpSpPr>
        <p:cNvPr id="150" name="Shape 150"/>
        <p:cNvGrpSpPr/>
        <p:nvPr/>
      </p:nvGrpSpPr>
      <p:grpSpPr>
        <a:xfrm>
          <a:off x="0" y="0"/>
          <a:ext cx="0" cy="0"/>
          <a:chOff x="0" y="0"/>
          <a:chExt cx="0" cy="0"/>
        </a:xfrm>
      </p:grpSpPr>
      <p:sp>
        <p:nvSpPr>
          <p:cNvPr id="151" name="Google Shape;151;p18"/>
          <p:cNvSpPr/>
          <p:nvPr/>
        </p:nvSpPr>
        <p:spPr>
          <a:xfrm rot="5400000">
            <a:off x="8434" y="823599"/>
            <a:ext cx="1189819" cy="98238"/>
          </a:xfrm>
          <a:prstGeom prst="rect">
            <a:avLst/>
          </a:prstGeom>
          <a:solidFill>
            <a:srgbClr val="FF5F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52" name="Google Shape;152;p18"/>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53" name="Google Shape;153;p18"/>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18"/>
          <p:cNvSpPr txBox="1"/>
          <p:nvPr>
            <p:ph idx="1" type="body"/>
          </p:nvPr>
        </p:nvSpPr>
        <p:spPr>
          <a:xfrm>
            <a:off x="654228" y="1786687"/>
            <a:ext cx="5547072"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2"/>
              </a:buClr>
              <a:buSzPts val="3000"/>
              <a:buNone/>
              <a:defRPr sz="3000">
                <a:solidFill>
                  <a:schemeClr val="l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18"/>
          <p:cNvSpPr txBox="1"/>
          <p:nvPr>
            <p:ph idx="2" type="body"/>
          </p:nvPr>
        </p:nvSpPr>
        <p:spPr>
          <a:xfrm>
            <a:off x="652463" y="2561957"/>
            <a:ext cx="5547072"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18"/>
          <p:cNvSpPr/>
          <p:nvPr>
            <p:ph idx="3" type="pic"/>
          </p:nvPr>
        </p:nvSpPr>
        <p:spPr>
          <a:xfrm>
            <a:off x="6282203" y="1786687"/>
            <a:ext cx="4738687" cy="2042930"/>
          </a:xfrm>
          <a:prstGeom prst="rect">
            <a:avLst/>
          </a:prstGeom>
          <a:solidFill>
            <a:srgbClr val="BFBFBF"/>
          </a:solidFill>
          <a:ln>
            <a:noFill/>
          </a:ln>
        </p:spPr>
      </p:sp>
      <p:sp>
        <p:nvSpPr>
          <p:cNvPr id="157" name="Google Shape;157;p18"/>
          <p:cNvSpPr txBox="1"/>
          <p:nvPr>
            <p:ph idx="4" type="body"/>
          </p:nvPr>
        </p:nvSpPr>
        <p:spPr>
          <a:xfrm>
            <a:off x="652463" y="3924115"/>
            <a:ext cx="5547072"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dk2"/>
              </a:buClr>
              <a:buSzPts val="3000"/>
              <a:buNone/>
              <a:defRPr sz="3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18"/>
          <p:cNvSpPr txBox="1"/>
          <p:nvPr>
            <p:ph idx="5" type="body"/>
          </p:nvPr>
        </p:nvSpPr>
        <p:spPr>
          <a:xfrm>
            <a:off x="650698" y="4699385"/>
            <a:ext cx="5547072"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18"/>
          <p:cNvSpPr/>
          <p:nvPr>
            <p:ph idx="6" type="pic"/>
          </p:nvPr>
        </p:nvSpPr>
        <p:spPr>
          <a:xfrm>
            <a:off x="6280438" y="3924115"/>
            <a:ext cx="4738687" cy="2042930"/>
          </a:xfrm>
          <a:prstGeom prst="rect">
            <a:avLst/>
          </a:prstGeom>
          <a:solidFill>
            <a:srgbClr val="BFBFBF"/>
          </a:solidFill>
          <a:ln>
            <a:noFill/>
          </a:ln>
        </p:spPr>
      </p:sp>
      <p:sp>
        <p:nvSpPr>
          <p:cNvPr id="160" name="Google Shape;160;p18"/>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1" name="Google Shape;161;p18"/>
          <p:cNvSpPr txBox="1"/>
          <p:nvPr>
            <p:ph idx="7"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3">
  <p:cSld name="Image Slide 3">
    <p:spTree>
      <p:nvGrpSpPr>
        <p:cNvPr id="163" name="Shape 163"/>
        <p:cNvGrpSpPr/>
        <p:nvPr/>
      </p:nvGrpSpPr>
      <p:grpSpPr>
        <a:xfrm>
          <a:off x="0" y="0"/>
          <a:ext cx="0" cy="0"/>
          <a:chOff x="0" y="0"/>
          <a:chExt cx="0" cy="0"/>
        </a:xfrm>
      </p:grpSpPr>
      <p:pic>
        <p:nvPicPr>
          <p:cNvPr id="164" name="Google Shape;164;p19"/>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65" name="Google Shape;165;p19"/>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6" name="Google Shape;166;p19"/>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19"/>
          <p:cNvSpPr/>
          <p:nvPr>
            <p:ph idx="2" type="pic"/>
          </p:nvPr>
        </p:nvSpPr>
        <p:spPr>
          <a:xfrm>
            <a:off x="554038" y="1786687"/>
            <a:ext cx="4738687" cy="4322200"/>
          </a:xfrm>
          <a:prstGeom prst="rect">
            <a:avLst/>
          </a:prstGeom>
          <a:solidFill>
            <a:srgbClr val="BFBFBF"/>
          </a:solidFill>
          <a:ln>
            <a:noFill/>
          </a:ln>
        </p:spPr>
      </p:sp>
      <p:sp>
        <p:nvSpPr>
          <p:cNvPr id="168" name="Google Shape;168;p19"/>
          <p:cNvSpPr txBox="1"/>
          <p:nvPr>
            <p:ph idx="1" type="body"/>
          </p:nvPr>
        </p:nvSpPr>
        <p:spPr>
          <a:xfrm>
            <a:off x="5477348" y="2717104"/>
            <a:ext cx="5547072"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2"/>
              </a:buClr>
              <a:buSzPts val="3000"/>
              <a:buNone/>
              <a:defRPr sz="3000">
                <a:solidFill>
                  <a:schemeClr val="l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19"/>
          <p:cNvSpPr txBox="1"/>
          <p:nvPr>
            <p:ph idx="3" type="body"/>
          </p:nvPr>
        </p:nvSpPr>
        <p:spPr>
          <a:xfrm>
            <a:off x="5475583" y="3492374"/>
            <a:ext cx="5547072"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19"/>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1" name="Google Shape;171;p19"/>
          <p:cNvSpPr txBox="1"/>
          <p:nvPr>
            <p:ph idx="4"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4">
  <p:cSld name="Image Slide 4">
    <p:spTree>
      <p:nvGrpSpPr>
        <p:cNvPr id="173" name="Shape 173"/>
        <p:cNvGrpSpPr/>
        <p:nvPr/>
      </p:nvGrpSpPr>
      <p:grpSpPr>
        <a:xfrm>
          <a:off x="0" y="0"/>
          <a:ext cx="0" cy="0"/>
          <a:chOff x="0" y="0"/>
          <a:chExt cx="0" cy="0"/>
        </a:xfrm>
      </p:grpSpPr>
      <p:sp>
        <p:nvSpPr>
          <p:cNvPr id="174" name="Google Shape;174;p20"/>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75" name="Google Shape;175;p20"/>
          <p:cNvPicPr preferRelativeResize="0"/>
          <p:nvPr/>
        </p:nvPicPr>
        <p:blipFill rotWithShape="1">
          <a:blip r:embed="rId2">
            <a:alphaModFix/>
          </a:blip>
          <a:srcRect b="0" l="0" r="0" t="0"/>
          <a:stretch/>
        </p:blipFill>
        <p:spPr>
          <a:xfrm>
            <a:off x="11115372" y="277803"/>
            <a:ext cx="516232" cy="745668"/>
          </a:xfrm>
          <a:prstGeom prst="rect">
            <a:avLst/>
          </a:prstGeom>
          <a:noFill/>
          <a:ln>
            <a:noFill/>
          </a:ln>
        </p:spPr>
      </p:pic>
      <p:sp>
        <p:nvSpPr>
          <p:cNvPr id="176" name="Google Shape;176;p20"/>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0"/>
          <p:cNvSpPr txBox="1"/>
          <p:nvPr>
            <p:ph idx="1" type="body"/>
          </p:nvPr>
        </p:nvSpPr>
        <p:spPr>
          <a:xfrm>
            <a:off x="652463" y="2717104"/>
            <a:ext cx="5547072"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dk2"/>
              </a:buClr>
              <a:buSzPts val="3000"/>
              <a:buNone/>
              <a:defRPr sz="30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20"/>
          <p:cNvSpPr txBox="1"/>
          <p:nvPr>
            <p:ph idx="2" type="body"/>
          </p:nvPr>
        </p:nvSpPr>
        <p:spPr>
          <a:xfrm>
            <a:off x="650698" y="3492374"/>
            <a:ext cx="5547072"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20"/>
          <p:cNvSpPr/>
          <p:nvPr>
            <p:ph idx="3" type="pic"/>
          </p:nvPr>
        </p:nvSpPr>
        <p:spPr>
          <a:xfrm>
            <a:off x="6283968" y="1786687"/>
            <a:ext cx="4738687" cy="4322200"/>
          </a:xfrm>
          <a:prstGeom prst="rect">
            <a:avLst/>
          </a:prstGeom>
          <a:solidFill>
            <a:srgbClr val="BFBFBF"/>
          </a:solidFill>
          <a:ln>
            <a:noFill/>
          </a:ln>
        </p:spPr>
      </p:sp>
      <p:sp>
        <p:nvSpPr>
          <p:cNvPr id="180" name="Google Shape;180;p20"/>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1" name="Google Shape;181;p20"/>
          <p:cNvSpPr txBox="1"/>
          <p:nvPr>
            <p:ph idx="4"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5">
  <p:cSld name="Image Slide 5">
    <p:spTree>
      <p:nvGrpSpPr>
        <p:cNvPr id="183" name="Shape 183"/>
        <p:cNvGrpSpPr/>
        <p:nvPr/>
      </p:nvGrpSpPr>
      <p:grpSpPr>
        <a:xfrm>
          <a:off x="0" y="0"/>
          <a:ext cx="0" cy="0"/>
          <a:chOff x="0" y="0"/>
          <a:chExt cx="0" cy="0"/>
        </a:xfrm>
      </p:grpSpPr>
      <p:sp>
        <p:nvSpPr>
          <p:cNvPr id="184" name="Google Shape;184;p21"/>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 name="Google Shape;185;p21"/>
          <p:cNvSpPr txBox="1"/>
          <p:nvPr>
            <p:ph idx="1" type="body"/>
          </p:nvPr>
        </p:nvSpPr>
        <p:spPr>
          <a:xfrm>
            <a:off x="654228" y="277803"/>
            <a:ext cx="10370191" cy="1189820"/>
          </a:xfrm>
          <a:prstGeom prst="rect">
            <a:avLst/>
          </a:prstGeom>
          <a:noFill/>
          <a:ln>
            <a:noFill/>
          </a:ln>
        </p:spPr>
        <p:txBody>
          <a:bodyPr anchorCtr="0" anchor="ctr" bIns="45700" lIns="91425" spcFirstLastPara="1" rIns="91425" wrap="square" tIns="45700">
            <a:normAutofit/>
          </a:bodyPr>
          <a:lstStyle>
            <a:lvl1pPr indent="-228600" lvl="0" marL="457200" marR="0" algn="l">
              <a:lnSpc>
                <a:spcPct val="70000"/>
              </a:lnSpc>
              <a:spcBef>
                <a:spcPts val="1000"/>
              </a:spcBef>
              <a:spcAft>
                <a:spcPts val="0"/>
              </a:spcAft>
              <a:buClr>
                <a:schemeClr val="dk2"/>
              </a:buClr>
              <a:buSzPts val="3200"/>
              <a:buFont typeface="Arial"/>
              <a:buNone/>
              <a:defRPr sz="3200">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6" name="Google Shape;186;p21"/>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187" name="Google Shape;187;p21"/>
          <p:cNvSpPr/>
          <p:nvPr>
            <p:ph idx="2" type="pic"/>
          </p:nvPr>
        </p:nvSpPr>
        <p:spPr>
          <a:xfrm>
            <a:off x="650698" y="1578560"/>
            <a:ext cx="10371957" cy="3875254"/>
          </a:xfrm>
          <a:prstGeom prst="rect">
            <a:avLst/>
          </a:prstGeom>
          <a:solidFill>
            <a:srgbClr val="BFBFBF"/>
          </a:solidFill>
          <a:ln>
            <a:noFill/>
          </a:ln>
        </p:spPr>
      </p:sp>
      <p:sp>
        <p:nvSpPr>
          <p:cNvPr id="188" name="Google Shape;188;p21"/>
          <p:cNvSpPr txBox="1"/>
          <p:nvPr>
            <p:ph idx="3" type="body"/>
          </p:nvPr>
        </p:nvSpPr>
        <p:spPr>
          <a:xfrm>
            <a:off x="654689" y="5590340"/>
            <a:ext cx="10367965" cy="612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000"/>
              <a:buNone/>
              <a:defRPr sz="20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21"/>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0" name="Google Shape;190;p21"/>
          <p:cNvSpPr txBox="1"/>
          <p:nvPr>
            <p:ph idx="4"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6">
  <p:cSld name="Image Slide 6">
    <p:spTree>
      <p:nvGrpSpPr>
        <p:cNvPr id="192" name="Shape 192"/>
        <p:cNvGrpSpPr/>
        <p:nvPr/>
      </p:nvGrpSpPr>
      <p:grpSpPr>
        <a:xfrm>
          <a:off x="0" y="0"/>
          <a:ext cx="0" cy="0"/>
          <a:chOff x="0" y="0"/>
          <a:chExt cx="0" cy="0"/>
        </a:xfrm>
      </p:grpSpPr>
      <p:sp>
        <p:nvSpPr>
          <p:cNvPr id="193" name="Google Shape;193;p22"/>
          <p:cNvSpPr txBox="1"/>
          <p:nvPr>
            <p:ph idx="1" type="body"/>
          </p:nvPr>
        </p:nvSpPr>
        <p:spPr>
          <a:xfrm>
            <a:off x="7679104" y="2391179"/>
            <a:ext cx="4187900" cy="764799"/>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22"/>
          <p:cNvSpPr txBox="1"/>
          <p:nvPr>
            <p:ph idx="2" type="body"/>
          </p:nvPr>
        </p:nvSpPr>
        <p:spPr>
          <a:xfrm>
            <a:off x="7677339" y="3166449"/>
            <a:ext cx="4187900" cy="12676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22"/>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6" name="Google Shape;196;p22"/>
          <p:cNvSpPr txBox="1"/>
          <p:nvPr>
            <p:ph idx="3"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7">
  <p:cSld name="Image Slide 7">
    <p:spTree>
      <p:nvGrpSpPr>
        <p:cNvPr id="198" name="Shape 198"/>
        <p:cNvGrpSpPr/>
        <p:nvPr/>
      </p:nvGrpSpPr>
      <p:grpSpPr>
        <a:xfrm>
          <a:off x="0" y="0"/>
          <a:ext cx="0" cy="0"/>
          <a:chOff x="0" y="0"/>
          <a:chExt cx="0" cy="0"/>
        </a:xfrm>
      </p:grpSpPr>
      <p:pic>
        <p:nvPicPr>
          <p:cNvPr id="199" name="Google Shape;199;p23"/>
          <p:cNvPicPr preferRelativeResize="0"/>
          <p:nvPr/>
        </p:nvPicPr>
        <p:blipFill rotWithShape="1">
          <a:blip r:embed="rId2">
            <a:alphaModFix/>
          </a:blip>
          <a:srcRect b="0" l="0" r="0" t="0"/>
          <a:stretch/>
        </p:blipFill>
        <p:spPr>
          <a:xfrm>
            <a:off x="11114691" y="277804"/>
            <a:ext cx="516232" cy="745668"/>
          </a:xfrm>
          <a:prstGeom prst="rect">
            <a:avLst/>
          </a:prstGeom>
          <a:noFill/>
          <a:ln>
            <a:noFill/>
          </a:ln>
        </p:spPr>
      </p:pic>
      <p:sp>
        <p:nvSpPr>
          <p:cNvPr id="200" name="Google Shape;200;p23"/>
          <p:cNvSpPr txBox="1"/>
          <p:nvPr>
            <p:ph idx="1" type="body"/>
          </p:nvPr>
        </p:nvSpPr>
        <p:spPr>
          <a:xfrm>
            <a:off x="2248247" y="4070491"/>
            <a:ext cx="7695506" cy="764799"/>
          </a:xfrm>
          <a:prstGeom prst="rect">
            <a:avLst/>
          </a:prstGeom>
          <a:noFill/>
          <a:ln>
            <a:noFill/>
          </a:ln>
        </p:spPr>
        <p:txBody>
          <a:bodyPr anchorCtr="0" anchor="ctr" bIns="45700" lIns="91425" spcFirstLastPara="1" rIns="91425" wrap="square" tIns="45700">
            <a:normAutofit/>
          </a:bodyPr>
          <a:lstStyle>
            <a:lvl1pPr indent="-228600" lvl="0" marL="457200" algn="ctr">
              <a:lnSpc>
                <a:spcPct val="70000"/>
              </a:lnSpc>
              <a:spcBef>
                <a:spcPts val="1000"/>
              </a:spcBef>
              <a:spcAft>
                <a:spcPts val="0"/>
              </a:spcAft>
              <a:buClr>
                <a:schemeClr val="lt1"/>
              </a:buClr>
              <a:buSzPts val="3000"/>
              <a:buNone/>
              <a:defRPr sz="3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 name="Google Shape;201;p23"/>
          <p:cNvSpPr txBox="1"/>
          <p:nvPr>
            <p:ph idx="2" type="body"/>
          </p:nvPr>
        </p:nvSpPr>
        <p:spPr>
          <a:xfrm>
            <a:off x="2248247" y="4980067"/>
            <a:ext cx="7695506" cy="612588"/>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 name="Google Shape;202;p23"/>
          <p:cNvSpPr txBox="1"/>
          <p:nvPr>
            <p:ph idx="3"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Slide 1">
  <p:cSld name="Graph Slide 1">
    <p:spTree>
      <p:nvGrpSpPr>
        <p:cNvPr id="204" name="Shape 204"/>
        <p:cNvGrpSpPr/>
        <p:nvPr/>
      </p:nvGrpSpPr>
      <p:grpSpPr>
        <a:xfrm>
          <a:off x="0" y="0"/>
          <a:ext cx="0" cy="0"/>
          <a:chOff x="0" y="0"/>
          <a:chExt cx="0" cy="0"/>
        </a:xfrm>
      </p:grpSpPr>
      <p:sp>
        <p:nvSpPr>
          <p:cNvPr id="205" name="Google Shape;205;p24"/>
          <p:cNvSpPr/>
          <p:nvPr/>
        </p:nvSpPr>
        <p:spPr>
          <a:xfrm rot="5400000">
            <a:off x="8434" y="823599"/>
            <a:ext cx="1189819" cy="9823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06" name="Google Shape;206;p24"/>
          <p:cNvPicPr preferRelativeResize="0"/>
          <p:nvPr/>
        </p:nvPicPr>
        <p:blipFill rotWithShape="1">
          <a:blip r:embed="rId2">
            <a:alphaModFix/>
          </a:blip>
          <a:srcRect b="0" l="0" r="0" t="0"/>
          <a:stretch/>
        </p:blipFill>
        <p:spPr>
          <a:xfrm>
            <a:off x="11114691" y="277804"/>
            <a:ext cx="516232" cy="745669"/>
          </a:xfrm>
          <a:prstGeom prst="rect">
            <a:avLst/>
          </a:prstGeom>
          <a:noFill/>
          <a:ln>
            <a:noFill/>
          </a:ln>
        </p:spPr>
      </p:pic>
      <p:sp>
        <p:nvSpPr>
          <p:cNvPr id="207" name="Google Shape;207;p24"/>
          <p:cNvSpPr txBox="1"/>
          <p:nvPr>
            <p:ph type="title"/>
          </p:nvPr>
        </p:nvSpPr>
        <p:spPr>
          <a:xfrm>
            <a:off x="652463" y="276575"/>
            <a:ext cx="10370190" cy="11898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24"/>
          <p:cNvSpPr/>
          <p:nvPr>
            <p:ph idx="2" type="chart"/>
          </p:nvPr>
        </p:nvSpPr>
        <p:spPr>
          <a:xfrm>
            <a:off x="1430338" y="1747838"/>
            <a:ext cx="9134475" cy="436086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9" name="Google Shape;209;p24"/>
          <p:cNvSpPr/>
          <p:nvPr/>
        </p:nvSpPr>
        <p:spPr>
          <a:xfrm>
            <a:off x="0" y="6245413"/>
            <a:ext cx="12187066" cy="61258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0" name="Google Shape;210;p24"/>
          <p:cNvSpPr txBox="1"/>
          <p:nvPr>
            <p:ph idx="1"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1">
  <p:cSld name="Thank You Slide 1">
    <p:spTree>
      <p:nvGrpSpPr>
        <p:cNvPr id="212" name="Shape 212"/>
        <p:cNvGrpSpPr/>
        <p:nvPr/>
      </p:nvGrpSpPr>
      <p:grpSpPr>
        <a:xfrm>
          <a:off x="0" y="0"/>
          <a:ext cx="0" cy="0"/>
          <a:chOff x="0" y="0"/>
          <a:chExt cx="0" cy="0"/>
        </a:xfrm>
      </p:grpSpPr>
      <p:pic>
        <p:nvPicPr>
          <p:cNvPr id="213" name="Google Shape;213;p25"/>
          <p:cNvPicPr preferRelativeResize="0"/>
          <p:nvPr/>
        </p:nvPicPr>
        <p:blipFill rotWithShape="1">
          <a:blip r:embed="rId2">
            <a:alphaModFix/>
          </a:blip>
          <a:srcRect b="0" l="0" r="0" t="0"/>
          <a:stretch/>
        </p:blipFill>
        <p:spPr>
          <a:xfrm>
            <a:off x="0" y="1785"/>
            <a:ext cx="12192000" cy="6854430"/>
          </a:xfrm>
          <a:prstGeom prst="rect">
            <a:avLst/>
          </a:prstGeom>
          <a:noFill/>
          <a:ln>
            <a:noFill/>
          </a:ln>
        </p:spPr>
      </p:pic>
      <p:sp>
        <p:nvSpPr>
          <p:cNvPr id="214" name="Google Shape;214;p25"/>
          <p:cNvSpPr txBox="1"/>
          <p:nvPr>
            <p:ph type="title"/>
          </p:nvPr>
        </p:nvSpPr>
        <p:spPr>
          <a:xfrm>
            <a:off x="1610698" y="823864"/>
            <a:ext cx="8981220" cy="110704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25"/>
          <p:cNvSpPr/>
          <p:nvPr/>
        </p:nvSpPr>
        <p:spPr>
          <a:xfrm>
            <a:off x="5455664" y="1930911"/>
            <a:ext cx="1275549" cy="14195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16" name="Google Shape;216;p25"/>
          <p:cNvPicPr preferRelativeResize="0"/>
          <p:nvPr/>
        </p:nvPicPr>
        <p:blipFill rotWithShape="1">
          <a:blip r:embed="rId3">
            <a:alphaModFix/>
          </a:blip>
          <a:srcRect b="0" l="0" r="0" t="0"/>
          <a:stretch/>
        </p:blipFill>
        <p:spPr>
          <a:xfrm>
            <a:off x="11104605" y="277805"/>
            <a:ext cx="529474" cy="764795"/>
          </a:xfrm>
          <a:prstGeom prst="rect">
            <a:avLst/>
          </a:prstGeom>
          <a:noFill/>
          <a:ln>
            <a:noFill/>
          </a:ln>
        </p:spPr>
      </p:pic>
      <p:sp>
        <p:nvSpPr>
          <p:cNvPr id="217" name="Google Shape;217;p25"/>
          <p:cNvSpPr txBox="1"/>
          <p:nvPr>
            <p:ph idx="1" type="body"/>
          </p:nvPr>
        </p:nvSpPr>
        <p:spPr>
          <a:xfrm>
            <a:off x="1610697" y="2328261"/>
            <a:ext cx="8981219" cy="2201477"/>
          </a:xfrm>
          <a:prstGeom prst="rect">
            <a:avLst/>
          </a:prstGeom>
          <a:noFill/>
          <a:ln>
            <a:noFill/>
          </a:ln>
        </p:spPr>
        <p:txBody>
          <a:bodyPr anchorCtr="0" anchor="ctr" bIns="45700" lIns="91425" spcFirstLastPara="1" rIns="91425" wrap="square" tIns="45700">
            <a:noAutofit/>
          </a:bodyPr>
          <a:lstStyle>
            <a:lvl1pPr indent="-228600" lvl="0" marL="457200" algn="ctr">
              <a:lnSpc>
                <a:spcPct val="150000"/>
              </a:lnSpc>
              <a:spcBef>
                <a:spcPts val="1000"/>
              </a:spcBef>
              <a:spcAft>
                <a:spcPts val="0"/>
              </a:spcAft>
              <a:buClr>
                <a:schemeClr val="lt1"/>
              </a:buClr>
              <a:buSzPts val="3200"/>
              <a:buNone/>
              <a:defRPr sz="3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25"/>
          <p:cNvSpPr txBox="1"/>
          <p:nvPr>
            <p:ph idx="2" type="body"/>
          </p:nvPr>
        </p:nvSpPr>
        <p:spPr>
          <a:xfrm>
            <a:off x="1610697" y="4952165"/>
            <a:ext cx="8981219" cy="79678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25"/>
          <p:cNvSpPr txBox="1"/>
          <p:nvPr>
            <p:ph idx="3"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2">
  <p:cSld name="Thank You Slide 2">
    <p:spTree>
      <p:nvGrpSpPr>
        <p:cNvPr id="221" name="Shape 221"/>
        <p:cNvGrpSpPr/>
        <p:nvPr/>
      </p:nvGrpSpPr>
      <p:grpSpPr>
        <a:xfrm>
          <a:off x="0" y="0"/>
          <a:ext cx="0" cy="0"/>
          <a:chOff x="0" y="0"/>
          <a:chExt cx="0" cy="0"/>
        </a:xfrm>
      </p:grpSpPr>
      <p:pic>
        <p:nvPicPr>
          <p:cNvPr id="222" name="Google Shape;222;p26"/>
          <p:cNvPicPr preferRelativeResize="0"/>
          <p:nvPr/>
        </p:nvPicPr>
        <p:blipFill rotWithShape="1">
          <a:blip r:embed="rId2">
            <a:alphaModFix/>
          </a:blip>
          <a:srcRect b="0" l="0" r="0" t="0"/>
          <a:stretch/>
        </p:blipFill>
        <p:spPr>
          <a:xfrm>
            <a:off x="2467" y="0"/>
            <a:ext cx="12187066" cy="6858000"/>
          </a:xfrm>
          <a:prstGeom prst="rect">
            <a:avLst/>
          </a:prstGeom>
          <a:noFill/>
          <a:ln>
            <a:noFill/>
          </a:ln>
        </p:spPr>
      </p:pic>
      <p:sp>
        <p:nvSpPr>
          <p:cNvPr id="223" name="Google Shape;223;p26"/>
          <p:cNvSpPr txBox="1"/>
          <p:nvPr>
            <p:ph type="title"/>
          </p:nvPr>
        </p:nvSpPr>
        <p:spPr>
          <a:xfrm>
            <a:off x="1610698" y="823864"/>
            <a:ext cx="8981220" cy="110704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26"/>
          <p:cNvSpPr/>
          <p:nvPr/>
        </p:nvSpPr>
        <p:spPr>
          <a:xfrm>
            <a:off x="5455664" y="1930911"/>
            <a:ext cx="1275549" cy="14195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25" name="Google Shape;225;p26"/>
          <p:cNvPicPr preferRelativeResize="0"/>
          <p:nvPr/>
        </p:nvPicPr>
        <p:blipFill rotWithShape="1">
          <a:blip r:embed="rId3">
            <a:alphaModFix/>
          </a:blip>
          <a:srcRect b="0" l="0" r="0" t="0"/>
          <a:stretch/>
        </p:blipFill>
        <p:spPr>
          <a:xfrm>
            <a:off x="11098275" y="277804"/>
            <a:ext cx="528575" cy="764797"/>
          </a:xfrm>
          <a:prstGeom prst="rect">
            <a:avLst/>
          </a:prstGeom>
          <a:noFill/>
          <a:ln>
            <a:noFill/>
          </a:ln>
        </p:spPr>
      </p:pic>
      <p:sp>
        <p:nvSpPr>
          <p:cNvPr id="226" name="Google Shape;226;p26"/>
          <p:cNvSpPr txBox="1"/>
          <p:nvPr>
            <p:ph idx="1" type="body"/>
          </p:nvPr>
        </p:nvSpPr>
        <p:spPr>
          <a:xfrm>
            <a:off x="1610697" y="2328261"/>
            <a:ext cx="8981219" cy="2201477"/>
          </a:xfrm>
          <a:prstGeom prst="rect">
            <a:avLst/>
          </a:prstGeom>
          <a:noFill/>
          <a:ln>
            <a:noFill/>
          </a:ln>
        </p:spPr>
        <p:txBody>
          <a:bodyPr anchorCtr="0" anchor="ctr" bIns="45700" lIns="91425" spcFirstLastPara="1" rIns="91425" wrap="square" tIns="45700">
            <a:noAutofit/>
          </a:bodyPr>
          <a:lstStyle>
            <a:lvl1pPr indent="-228600" lvl="0" marL="457200" algn="ctr">
              <a:lnSpc>
                <a:spcPct val="150000"/>
              </a:lnSpc>
              <a:spcBef>
                <a:spcPts val="1000"/>
              </a:spcBef>
              <a:spcAft>
                <a:spcPts val="0"/>
              </a:spcAft>
              <a:buClr>
                <a:schemeClr val="lt1"/>
              </a:buClr>
              <a:buSzPts val="3200"/>
              <a:buNone/>
              <a:defRPr sz="3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26"/>
          <p:cNvSpPr txBox="1"/>
          <p:nvPr>
            <p:ph idx="2" type="body"/>
          </p:nvPr>
        </p:nvSpPr>
        <p:spPr>
          <a:xfrm>
            <a:off x="1610697" y="4952165"/>
            <a:ext cx="8981219" cy="79678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26"/>
          <p:cNvSpPr txBox="1"/>
          <p:nvPr>
            <p:ph idx="3" type="body"/>
          </p:nvPr>
        </p:nvSpPr>
        <p:spPr>
          <a:xfrm>
            <a:off x="457200" y="6356350"/>
            <a:ext cx="8153400" cy="36512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Art 1">
  <p:cSld name="Closing Art 1">
    <p:spTree>
      <p:nvGrpSpPr>
        <p:cNvPr id="230" name="Shape 230"/>
        <p:cNvGrpSpPr/>
        <p:nvPr/>
      </p:nvGrpSpPr>
      <p:grpSpPr>
        <a:xfrm>
          <a:off x="0" y="0"/>
          <a:ext cx="0" cy="0"/>
          <a:chOff x="0" y="0"/>
          <a:chExt cx="0" cy="0"/>
        </a:xfrm>
      </p:grpSpPr>
      <p:pic>
        <p:nvPicPr>
          <p:cNvPr id="231" name="Google Shape;231;p27"/>
          <p:cNvPicPr preferRelativeResize="0"/>
          <p:nvPr/>
        </p:nvPicPr>
        <p:blipFill rotWithShape="1">
          <a:blip r:embed="rId2">
            <a:alphaModFix/>
          </a:blip>
          <a:srcRect b="0" l="0" r="0" t="0"/>
          <a:stretch/>
        </p:blipFill>
        <p:spPr>
          <a:xfrm>
            <a:off x="0" y="1785"/>
            <a:ext cx="12192000" cy="685443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Art 2">
  <p:cSld name="Closing Art 2">
    <p:spTree>
      <p:nvGrpSpPr>
        <p:cNvPr id="232" name="Shape 232"/>
        <p:cNvGrpSpPr/>
        <p:nvPr/>
      </p:nvGrpSpPr>
      <p:grpSpPr>
        <a:xfrm>
          <a:off x="0" y="0"/>
          <a:ext cx="0" cy="0"/>
          <a:chOff x="0" y="0"/>
          <a:chExt cx="0" cy="0"/>
        </a:xfrm>
      </p:grpSpPr>
      <p:pic>
        <p:nvPicPr>
          <p:cNvPr id="233" name="Google Shape;233;p28"/>
          <p:cNvPicPr preferRelativeResize="0"/>
          <p:nvPr/>
        </p:nvPicPr>
        <p:blipFill rotWithShape="1">
          <a:blip r:embed="rId2">
            <a:alphaModFix/>
          </a:blip>
          <a:srcRect b="0" l="0" r="0" t="0"/>
          <a:stretch/>
        </p:blipFill>
        <p:spPr>
          <a:xfrm>
            <a:off x="2467" y="0"/>
            <a:ext cx="12187066" cy="68580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Art 3">
  <p:cSld name="Closing Art 3">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2">
            <a:alphaModFix/>
          </a:blip>
          <a:srcRect b="0" l="0" r="0" t="0"/>
          <a:stretch/>
        </p:blipFill>
        <p:spPr>
          <a:xfrm>
            <a:off x="2466" y="694"/>
            <a:ext cx="12189533" cy="6856612"/>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Art 4">
  <p:cSld name="Closing Art 4">
    <p:spTree>
      <p:nvGrpSpPr>
        <p:cNvPr id="236" name="Shape 236"/>
        <p:cNvGrpSpPr/>
        <p:nvPr/>
      </p:nvGrpSpPr>
      <p:grpSpPr>
        <a:xfrm>
          <a:off x="0" y="0"/>
          <a:ext cx="0" cy="0"/>
          <a:chOff x="0" y="0"/>
          <a:chExt cx="0" cy="0"/>
        </a:xfrm>
      </p:grpSpPr>
      <p:pic>
        <p:nvPicPr>
          <p:cNvPr id="237" name="Google Shape;237;p30"/>
          <p:cNvPicPr preferRelativeResize="0"/>
          <p:nvPr/>
        </p:nvPicPr>
        <p:blipFill rotWithShape="1">
          <a:blip r:embed="rId2">
            <a:alphaModFix/>
          </a:blip>
          <a:srcRect b="0" l="0" r="0" t="0"/>
          <a:stretch/>
        </p:blipFill>
        <p:spPr>
          <a:xfrm>
            <a:off x="5639" y="3172"/>
            <a:ext cx="12180721" cy="685165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Arial"/>
                <a:ea typeface="Arial"/>
                <a:cs typeface="Arial"/>
                <a:sym typeface="Arial"/>
              </a:defRPr>
            </a:lvl1pPr>
            <a:lvl2pPr indent="0" lvl="1" marL="0" marR="0" rtl="0" algn="r">
              <a:spcBef>
                <a:spcPts val="0"/>
              </a:spcBef>
              <a:buNone/>
              <a:defRPr b="0" i="0" sz="1200" u="none" cap="none" strike="noStrike">
                <a:solidFill>
                  <a:schemeClr val="lt1"/>
                </a:solidFill>
                <a:latin typeface="Arial"/>
                <a:ea typeface="Arial"/>
                <a:cs typeface="Arial"/>
                <a:sym typeface="Arial"/>
              </a:defRPr>
            </a:lvl2pPr>
            <a:lvl3pPr indent="0" lvl="2" marL="0" marR="0" rtl="0" algn="r">
              <a:spcBef>
                <a:spcPts val="0"/>
              </a:spcBef>
              <a:buNone/>
              <a:defRPr b="0" i="0" sz="1200" u="none" cap="none" strike="noStrike">
                <a:solidFill>
                  <a:schemeClr val="lt1"/>
                </a:solidFill>
                <a:latin typeface="Arial"/>
                <a:ea typeface="Arial"/>
                <a:cs typeface="Arial"/>
                <a:sym typeface="Arial"/>
              </a:defRPr>
            </a:lvl3pPr>
            <a:lvl4pPr indent="0" lvl="3" marL="0" marR="0" rtl="0" algn="r">
              <a:spcBef>
                <a:spcPts val="0"/>
              </a:spcBef>
              <a:buNone/>
              <a:defRPr b="0" i="0" sz="1200" u="none" cap="none" strike="noStrike">
                <a:solidFill>
                  <a:schemeClr val="lt1"/>
                </a:solidFill>
                <a:latin typeface="Arial"/>
                <a:ea typeface="Arial"/>
                <a:cs typeface="Arial"/>
                <a:sym typeface="Arial"/>
              </a:defRPr>
            </a:lvl4pPr>
            <a:lvl5pPr indent="0" lvl="4" marL="0" marR="0" rtl="0" algn="r">
              <a:spcBef>
                <a:spcPts val="0"/>
              </a:spcBef>
              <a:buNone/>
              <a:defRPr b="0" i="0" sz="1200" u="none" cap="none" strike="noStrike">
                <a:solidFill>
                  <a:schemeClr val="lt1"/>
                </a:solidFill>
                <a:latin typeface="Arial"/>
                <a:ea typeface="Arial"/>
                <a:cs typeface="Arial"/>
                <a:sym typeface="Arial"/>
              </a:defRPr>
            </a:lvl5pPr>
            <a:lvl6pPr indent="0" lvl="5" marL="0" marR="0" rtl="0" algn="r">
              <a:spcBef>
                <a:spcPts val="0"/>
              </a:spcBef>
              <a:buNone/>
              <a:defRPr b="0" i="0" sz="1200" u="none" cap="none" strike="noStrike">
                <a:solidFill>
                  <a:schemeClr val="lt1"/>
                </a:solidFill>
                <a:latin typeface="Arial"/>
                <a:ea typeface="Arial"/>
                <a:cs typeface="Arial"/>
                <a:sym typeface="Arial"/>
              </a:defRPr>
            </a:lvl6pPr>
            <a:lvl7pPr indent="0" lvl="6" marL="0" marR="0" rtl="0" algn="r">
              <a:spcBef>
                <a:spcPts val="0"/>
              </a:spcBef>
              <a:buNone/>
              <a:defRPr b="0" i="0" sz="1200" u="none" cap="none" strike="noStrike">
                <a:solidFill>
                  <a:schemeClr val="lt1"/>
                </a:solidFill>
                <a:latin typeface="Arial"/>
                <a:ea typeface="Arial"/>
                <a:cs typeface="Arial"/>
                <a:sym typeface="Arial"/>
              </a:defRPr>
            </a:lvl7pPr>
            <a:lvl8pPr indent="0" lvl="7" marL="0" marR="0" rtl="0" algn="r">
              <a:spcBef>
                <a:spcPts val="0"/>
              </a:spcBef>
              <a:buNone/>
              <a:defRPr b="0" i="0" sz="1200" u="none" cap="none" strike="noStrike">
                <a:solidFill>
                  <a:schemeClr val="lt1"/>
                </a:solidFill>
                <a:latin typeface="Arial"/>
                <a:ea typeface="Arial"/>
                <a:cs typeface="Arial"/>
                <a:sym typeface="Arial"/>
              </a:defRPr>
            </a:lvl8pPr>
            <a:lvl9pPr indent="0" lvl="8" marL="0" marR="0" rt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drive.google.com/file/d/1xell5XYp_kdRsa7Q4k6smienkvQX4Ofy/view"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ai-assistant-for-accessibility.streamlit.app/" TargetMode="External"/><Relationship Id="rId4" Type="http://schemas.openxmlformats.org/officeDocument/2006/relationships/hyperlink" Target="https://docs.google.com/spreadsheets/d/1lijyxpdbrLFmPJQO8CTqlZzZaQ-6Rpa4TXA4SE7eWbQ/edit?usp=sha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hyperlink" Target="https://doi.org/10.47363/JAICC/2024(3)E261" TargetMode="External"/><Relationship Id="rId4" Type="http://schemas.openxmlformats.org/officeDocument/2006/relationships/hyperlink" Target="https://doi.org/10.47363/JAICC/2024(3)E261" TargetMode="External"/><Relationship Id="rId9" Type="http://schemas.openxmlformats.org/officeDocument/2006/relationships/hyperlink" Target="https://arxiv.org/abs/2301.13280" TargetMode="External"/><Relationship Id="rId5" Type="http://schemas.openxmlformats.org/officeDocument/2006/relationships/hyperlink" Target="https://arxiv.org/abs/2502.18701" TargetMode="External"/><Relationship Id="rId6" Type="http://schemas.openxmlformats.org/officeDocument/2006/relationships/hyperlink" Target="https://arxiv.org/abs/2502.18701" TargetMode="External"/><Relationship Id="rId7" Type="http://schemas.openxmlformats.org/officeDocument/2006/relationships/hyperlink" Target="https://doi.org/10.2139/ssrn.4949516" TargetMode="External"/><Relationship Id="rId8" Type="http://schemas.openxmlformats.org/officeDocument/2006/relationships/hyperlink" Target="https://doi.org/10.2139/ssrn.4949516" TargetMode="External"/><Relationship Id="rId11" Type="http://schemas.openxmlformats.org/officeDocument/2006/relationships/hyperlink" Target="https://doi.org/10.1145/3126594.3126651" TargetMode="External"/><Relationship Id="rId10" Type="http://schemas.openxmlformats.org/officeDocument/2006/relationships/hyperlink" Target="https://arxiv.org/abs/2301.13280" TargetMode="External"/><Relationship Id="rId13" Type="http://schemas.openxmlformats.org/officeDocument/2006/relationships/hyperlink" Target="https://doi.org/10.1145/3544548.3580688" TargetMode="External"/><Relationship Id="rId12" Type="http://schemas.openxmlformats.org/officeDocument/2006/relationships/hyperlink" Target="https://doi.org/10.1145/3126594.3126651" TargetMode="External"/><Relationship Id="rId15" Type="http://schemas.openxmlformats.org/officeDocument/2006/relationships/hyperlink" Target="https://arxiv.org/abs/2201.06796" TargetMode="External"/><Relationship Id="rId14" Type="http://schemas.openxmlformats.org/officeDocument/2006/relationships/hyperlink" Target="https://doi.org/10.1145/3544548.3580688" TargetMode="External"/><Relationship Id="rId16" Type="http://schemas.openxmlformats.org/officeDocument/2006/relationships/hyperlink" Target="https://arxiv.org/abs/2201.0679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0" y="1474250"/>
            <a:ext cx="12189600" cy="12912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n-US" sz="4280"/>
              <a:t>Multi-Agent Web </a:t>
            </a:r>
            <a:r>
              <a:rPr lang="en-US" sz="4280"/>
              <a:t>Accessibility</a:t>
            </a:r>
            <a:endParaRPr sz="4280"/>
          </a:p>
          <a:p>
            <a:pPr indent="0" lvl="0" marL="0" rtl="0" algn="ctr">
              <a:lnSpc>
                <a:spcPct val="90000"/>
              </a:lnSpc>
              <a:spcBef>
                <a:spcPts val="0"/>
              </a:spcBef>
              <a:spcAft>
                <a:spcPts val="0"/>
              </a:spcAft>
              <a:buClr>
                <a:schemeClr val="lt1"/>
              </a:buClr>
              <a:buSzPts val="5400"/>
              <a:buFont typeface="Arial"/>
              <a:buNone/>
            </a:pPr>
            <a:r>
              <a:rPr lang="en-US" sz="4280"/>
              <a:t>Improvement System</a:t>
            </a:r>
            <a:endParaRPr sz="4280"/>
          </a:p>
        </p:txBody>
      </p:sp>
      <p:sp>
        <p:nvSpPr>
          <p:cNvPr id="244" name="Google Shape;244;p31"/>
          <p:cNvSpPr txBox="1"/>
          <p:nvPr>
            <p:ph idx="1" type="body"/>
          </p:nvPr>
        </p:nvSpPr>
        <p:spPr>
          <a:xfrm>
            <a:off x="146000" y="3228850"/>
            <a:ext cx="12189600" cy="661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None/>
            </a:pPr>
            <a:r>
              <a:rPr lang="en-US" sz="3200"/>
              <a:t>CS 568 Group 51</a:t>
            </a:r>
            <a:endParaRPr sz="3200"/>
          </a:p>
        </p:txBody>
      </p:sp>
      <p:sp>
        <p:nvSpPr>
          <p:cNvPr id="245" name="Google Shape;245;p31"/>
          <p:cNvSpPr txBox="1"/>
          <p:nvPr>
            <p:ph idx="2" type="body"/>
          </p:nvPr>
        </p:nvSpPr>
        <p:spPr>
          <a:xfrm>
            <a:off x="0" y="4204984"/>
            <a:ext cx="12189600" cy="787800"/>
          </a:xfrm>
          <a:prstGeom prst="rect">
            <a:avLst/>
          </a:prstGeom>
          <a:noFill/>
          <a:ln>
            <a:noFill/>
          </a:ln>
        </p:spPr>
        <p:txBody>
          <a:bodyPr anchorCtr="0" anchor="t" bIns="45700" lIns="91425" spcFirstLastPara="1" rIns="91425" wrap="square" tIns="45700">
            <a:normAutofit/>
          </a:bodyPr>
          <a:lstStyle/>
          <a:p>
            <a:pPr indent="0" lvl="0" marL="0" rtl="0" algn="ctr">
              <a:lnSpc>
                <a:spcPct val="70000"/>
              </a:lnSpc>
              <a:spcBef>
                <a:spcPts val="0"/>
              </a:spcBef>
              <a:spcAft>
                <a:spcPts val="0"/>
              </a:spcAft>
              <a:buClr>
                <a:schemeClr val="lt1"/>
              </a:buClr>
              <a:buSzPts val="3600"/>
              <a:buNone/>
            </a:pPr>
            <a:r>
              <a:rPr lang="en-US" sz="2900"/>
              <a:t>Akshat Bhat, Trusha Talati, Isha Agrawal, Viraj Shah, Apurv Sawant, Shantanu Dhamdhere </a:t>
            </a:r>
            <a:endParaRPr sz="2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721738" y="295900"/>
            <a:ext cx="10370100" cy="1189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u="sng">
                <a:solidFill>
                  <a:schemeClr val="dk1"/>
                </a:solidFill>
              </a:rPr>
              <a:t>Problem </a:t>
            </a:r>
            <a:r>
              <a:rPr lang="en-US" u="sng">
                <a:solidFill>
                  <a:schemeClr val="dk1"/>
                </a:solidFill>
              </a:rPr>
              <a:t>Statement and Motivation</a:t>
            </a:r>
            <a:endParaRPr u="sng">
              <a:solidFill>
                <a:schemeClr val="dk1"/>
              </a:solidFill>
            </a:endParaRPr>
          </a:p>
        </p:txBody>
      </p:sp>
      <p:sp>
        <p:nvSpPr>
          <p:cNvPr id="252" name="Google Shape;25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100"/>
              <a:t>‹#›</a:t>
            </a:fld>
            <a:endParaRPr sz="1100"/>
          </a:p>
        </p:txBody>
      </p:sp>
      <p:sp>
        <p:nvSpPr>
          <p:cNvPr id="253" name="Google Shape;253;p32"/>
          <p:cNvSpPr txBox="1"/>
          <p:nvPr/>
        </p:nvSpPr>
        <p:spPr>
          <a:xfrm>
            <a:off x="652475" y="1316950"/>
            <a:ext cx="11094900" cy="4734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b="1" lang="en-US" sz="2000" u="sng">
                <a:solidFill>
                  <a:schemeClr val="dk1"/>
                </a:solidFill>
                <a:latin typeface="Calibri"/>
                <a:ea typeface="Calibri"/>
                <a:cs typeface="Calibri"/>
                <a:sym typeface="Calibri"/>
              </a:rPr>
              <a:t>Problem Statement</a:t>
            </a:r>
            <a:r>
              <a:rPr lang="en-US" sz="20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Ensuring UI accessibility is challenging, as current tools offer limited, rule-based checks and lack AI-driven capabilities to automatically </a:t>
            </a:r>
            <a:r>
              <a:rPr b="1" lang="en-US" sz="1800">
                <a:solidFill>
                  <a:schemeClr val="dk1"/>
                </a:solidFill>
                <a:latin typeface="Calibri"/>
                <a:ea typeface="Calibri"/>
                <a:cs typeface="Calibri"/>
                <a:sym typeface="Calibri"/>
              </a:rPr>
              <a:t>identify and recommend fixes</a:t>
            </a:r>
            <a:r>
              <a:rPr lang="en-US" sz="1800">
                <a:solidFill>
                  <a:schemeClr val="dk1"/>
                </a:solidFill>
                <a:latin typeface="Calibri"/>
                <a:ea typeface="Calibri"/>
                <a:cs typeface="Calibri"/>
                <a:sym typeface="Calibri"/>
              </a:rPr>
              <a:t> for diverse accessibility issues</a:t>
            </a:r>
            <a:endParaRPr sz="1800">
              <a:solidFill>
                <a:schemeClr val="dk1"/>
              </a:solidFill>
              <a:latin typeface="Calibri"/>
              <a:ea typeface="Calibri"/>
              <a:cs typeface="Calibri"/>
              <a:sym typeface="Calibri"/>
            </a:endParaRPr>
          </a:p>
          <a:p>
            <a:pPr indent="0" lvl="0" marL="0" rtl="0" algn="just">
              <a:lnSpc>
                <a:spcPct val="100000"/>
              </a:lnSpc>
              <a:spcBef>
                <a:spcPts val="0"/>
              </a:spcBef>
              <a:spcAft>
                <a:spcPts val="0"/>
              </a:spcAft>
              <a:buClr>
                <a:schemeClr val="dk2"/>
              </a:buClr>
              <a:buSzPts val="3200"/>
              <a:buFont typeface="Arial"/>
              <a:buNone/>
            </a:pPr>
            <a:r>
              <a:t/>
            </a:r>
            <a:endParaRPr sz="1800">
              <a:solidFill>
                <a:schemeClr val="dk1"/>
              </a:solidFill>
              <a:latin typeface="Calibri"/>
              <a:ea typeface="Calibri"/>
              <a:cs typeface="Calibri"/>
              <a:sym typeface="Calibri"/>
            </a:endParaRPr>
          </a:p>
          <a:p>
            <a:pPr indent="0" lvl="0" marL="0" rtl="0" algn="just">
              <a:lnSpc>
                <a:spcPct val="100000"/>
              </a:lnSpc>
              <a:spcBef>
                <a:spcPts val="0"/>
              </a:spcBef>
              <a:spcAft>
                <a:spcPts val="0"/>
              </a:spcAft>
              <a:buNone/>
            </a:pPr>
            <a:r>
              <a:rPr b="1" lang="en-US" sz="2000" u="sng">
                <a:solidFill>
                  <a:schemeClr val="dk1"/>
                </a:solidFill>
                <a:latin typeface="Calibri"/>
                <a:ea typeface="Calibri"/>
                <a:cs typeface="Calibri"/>
                <a:sym typeface="Calibri"/>
              </a:rPr>
              <a:t>Motivation</a:t>
            </a:r>
            <a:r>
              <a:rPr lang="en-US" sz="20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b="1" lang="en-US" sz="1800">
                <a:solidFill>
                  <a:schemeClr val="dk1"/>
                </a:solidFill>
                <a:latin typeface="Calibri"/>
                <a:ea typeface="Calibri"/>
                <a:cs typeface="Calibri"/>
                <a:sym typeface="Calibri"/>
              </a:rPr>
              <a:t>1. Accessibility is essential, not optional</a:t>
            </a:r>
            <a:r>
              <a:rPr lang="en-US" sz="1800">
                <a:solidFill>
                  <a:schemeClr val="dk1"/>
                </a:solidFill>
                <a:latin typeface="Calibri"/>
                <a:ea typeface="Calibri"/>
                <a:cs typeface="Calibri"/>
                <a:sym typeface="Calibri"/>
              </a:rPr>
              <a:t>: Over 1 billion people globally experience some form of disability; many digital platforms remain hard to use or navigate</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rtl="0" algn="just">
              <a:lnSpc>
                <a:spcPct val="100000"/>
              </a:lnSpc>
              <a:spcBef>
                <a:spcPts val="0"/>
              </a:spcBef>
              <a:spcAft>
                <a:spcPts val="0"/>
              </a:spcAft>
              <a:buClr>
                <a:schemeClr val="dk1"/>
              </a:buClr>
              <a:buSzPts val="1100"/>
              <a:buFont typeface="Arial"/>
              <a:buNone/>
            </a:pPr>
            <a:r>
              <a:rPr b="1" lang="en-US" sz="1800">
                <a:solidFill>
                  <a:schemeClr val="dk1"/>
                </a:solidFill>
                <a:latin typeface="Calibri"/>
                <a:ea typeface="Calibri"/>
                <a:cs typeface="Calibri"/>
                <a:sym typeface="Calibri"/>
              </a:rPr>
              <a:t>2. Existing tools fall short</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Tools like AXE or Lighthouse are rule-based and miss nuanced context or personalized needs</a:t>
            </a: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Developers lack smart assistants that </a:t>
            </a:r>
            <a:r>
              <a:rPr b="1" lang="en-US" sz="1800">
                <a:solidFill>
                  <a:schemeClr val="dk1"/>
                </a:solidFill>
                <a:latin typeface="Calibri"/>
                <a:ea typeface="Calibri"/>
                <a:cs typeface="Calibri"/>
                <a:sym typeface="Calibri"/>
              </a:rPr>
              <a:t>proactively suggest meaningful, user-centered fixes</a:t>
            </a:r>
            <a:endParaRPr sz="1800">
              <a:solidFill>
                <a:schemeClr val="dk1"/>
              </a:solidFill>
              <a:latin typeface="Calibri"/>
              <a:ea typeface="Calibri"/>
              <a:cs typeface="Calibri"/>
              <a:sym typeface="Calibri"/>
            </a:endParaRPr>
          </a:p>
          <a:p>
            <a:pPr indent="0" lvl="0" marL="0" rtl="0" algn="just">
              <a:lnSpc>
                <a:spcPct val="100000"/>
              </a:lnSpc>
              <a:spcBef>
                <a:spcPts val="1200"/>
              </a:spcBef>
              <a:spcAft>
                <a:spcPts val="0"/>
              </a:spcAft>
              <a:buClr>
                <a:schemeClr val="dk1"/>
              </a:buClr>
              <a:buSzPts val="1100"/>
              <a:buFont typeface="Arial"/>
              <a:buNone/>
            </a:pPr>
            <a:r>
              <a:rPr b="1" lang="en-US" sz="1800">
                <a:solidFill>
                  <a:schemeClr val="dk1"/>
                </a:solidFill>
                <a:latin typeface="Calibri"/>
                <a:ea typeface="Calibri"/>
                <a:cs typeface="Calibri"/>
                <a:sym typeface="Calibri"/>
              </a:rPr>
              <a:t>3. Opportunity for Human-AI Collaboration</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Leverage AI not just to detect issues but to </a:t>
            </a:r>
            <a:r>
              <a:rPr b="1" lang="en-US" sz="1800">
                <a:solidFill>
                  <a:schemeClr val="dk1"/>
                </a:solidFill>
                <a:latin typeface="Calibri"/>
                <a:ea typeface="Calibri"/>
                <a:cs typeface="Calibri"/>
                <a:sym typeface="Calibri"/>
              </a:rPr>
              <a:t>simulate different user perspectives</a:t>
            </a:r>
            <a:r>
              <a:rPr lang="en-US" sz="1800">
                <a:solidFill>
                  <a:schemeClr val="dk1"/>
                </a:solidFill>
                <a:latin typeface="Calibri"/>
                <a:ea typeface="Calibri"/>
                <a:cs typeface="Calibri"/>
                <a:sym typeface="Calibri"/>
              </a:rPr>
              <a:t> (e.g., color blindness, motor impairments)</a:t>
            </a: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Empower designers/developers to </a:t>
            </a:r>
            <a:r>
              <a:rPr b="1" lang="en-US" sz="1800">
                <a:solidFill>
                  <a:schemeClr val="dk1"/>
                </a:solidFill>
                <a:latin typeface="Calibri"/>
                <a:ea typeface="Calibri"/>
                <a:cs typeface="Calibri"/>
                <a:sym typeface="Calibri"/>
              </a:rPr>
              <a:t>empathize and act</a:t>
            </a:r>
            <a:r>
              <a:rPr lang="en-US" sz="1800">
                <a:solidFill>
                  <a:schemeClr val="dk1"/>
                </a:solidFill>
                <a:latin typeface="Calibri"/>
                <a:ea typeface="Calibri"/>
                <a:cs typeface="Calibri"/>
                <a:sym typeface="Calibri"/>
              </a:rPr>
              <a:t> using automated, intelligent insights</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Inspiration and Need Finding</a:t>
            </a:r>
            <a:endParaRPr u="sng">
              <a:solidFill>
                <a:schemeClr val="dk1"/>
              </a:solidFill>
            </a:endParaRPr>
          </a:p>
        </p:txBody>
      </p:sp>
      <p:sp>
        <p:nvSpPr>
          <p:cNvPr id="260" name="Google Shape;260;p33"/>
          <p:cNvSpPr txBox="1"/>
          <p:nvPr>
            <p:ph idx="1" type="body"/>
          </p:nvPr>
        </p:nvSpPr>
        <p:spPr>
          <a:xfrm>
            <a:off x="652475" y="1556650"/>
            <a:ext cx="11049600" cy="4524600"/>
          </a:xfrm>
          <a:prstGeom prst="rect">
            <a:avLst/>
          </a:prstGeom>
        </p:spPr>
        <p:txBody>
          <a:bodyPr anchorCtr="0" anchor="t" bIns="45700" lIns="91425" spcFirstLastPara="1" rIns="91425" wrap="square" tIns="45700">
            <a:noAutofit/>
          </a:bodyPr>
          <a:lstStyle/>
          <a:p>
            <a:pPr indent="-342900" lvl="0" marL="457200" rtl="0" algn="just">
              <a:lnSpc>
                <a:spcPct val="100000"/>
              </a:lnSpc>
              <a:spcBef>
                <a:spcPts val="1000"/>
              </a:spcBef>
              <a:spcAft>
                <a:spcPts val="0"/>
              </a:spcAft>
              <a:buClr>
                <a:schemeClr val="dk1"/>
              </a:buClr>
              <a:buSzPts val="1800"/>
              <a:buChar char="●"/>
            </a:pPr>
            <a:r>
              <a:rPr b="1" lang="en-US" sz="1800">
                <a:solidFill>
                  <a:schemeClr val="dk1"/>
                </a:solidFill>
                <a:latin typeface="Calibri"/>
                <a:ea typeface="Calibri"/>
                <a:cs typeface="Calibri"/>
                <a:sym typeface="Calibri"/>
              </a:rPr>
              <a:t>User-Centered Perspective</a:t>
            </a:r>
            <a:r>
              <a:rPr lang="en-US" sz="1800">
                <a:solidFill>
                  <a:schemeClr val="dk1"/>
                </a:solidFill>
                <a:latin typeface="Calibri"/>
                <a:ea typeface="Calibri"/>
                <a:cs typeface="Calibri"/>
                <a:sym typeface="Calibri"/>
              </a:rPr>
              <a:t>: Simulates diverse user experiences (visually impaired, motor-impaired, etc.) to inform accessible design</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b="1" lang="en-US" sz="1800">
                <a:solidFill>
                  <a:schemeClr val="dk1"/>
                </a:solidFill>
                <a:latin typeface="Calibri"/>
                <a:ea typeface="Calibri"/>
                <a:cs typeface="Calibri"/>
                <a:sym typeface="Calibri"/>
              </a:rPr>
              <a:t>Augments Human Judgment</a:t>
            </a:r>
            <a:r>
              <a:rPr lang="en-US" sz="1800">
                <a:solidFill>
                  <a:schemeClr val="dk1"/>
                </a:solidFill>
                <a:latin typeface="Calibri"/>
                <a:ea typeface="Calibri"/>
                <a:cs typeface="Calibri"/>
                <a:sym typeface="Calibri"/>
              </a:rPr>
              <a:t>: AI agents don’t replace developers—they support them with context-aware, explainable suggestions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b="1" lang="en-US" sz="1800">
                <a:solidFill>
                  <a:schemeClr val="dk1"/>
                </a:solidFill>
                <a:latin typeface="Calibri"/>
                <a:ea typeface="Calibri"/>
                <a:cs typeface="Calibri"/>
                <a:sym typeface="Calibri"/>
              </a:rPr>
              <a:t>Data-Driven Feedback</a:t>
            </a:r>
            <a:r>
              <a:rPr lang="en-US" sz="1800">
                <a:solidFill>
                  <a:schemeClr val="dk1"/>
                </a:solidFill>
                <a:latin typeface="Calibri"/>
                <a:ea typeface="Calibri"/>
                <a:cs typeface="Calibri"/>
                <a:sym typeface="Calibri"/>
              </a:rPr>
              <a:t>: Incorporates user study feedback to verify accessibility fixes—pushing HCI toward more participatory design processes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b="1" lang="en-US" sz="1800">
                <a:solidFill>
                  <a:schemeClr val="dk1"/>
                </a:solidFill>
                <a:latin typeface="Calibri"/>
                <a:ea typeface="Calibri"/>
                <a:cs typeface="Calibri"/>
                <a:sym typeface="Calibri"/>
              </a:rPr>
              <a:t>Intelligent Interaction </a:t>
            </a:r>
            <a:r>
              <a:rPr b="1" lang="en-US" sz="1800">
                <a:solidFill>
                  <a:schemeClr val="dk1"/>
                </a:solidFill>
                <a:latin typeface="Calibri"/>
                <a:ea typeface="Calibri"/>
                <a:cs typeface="Calibri"/>
                <a:sym typeface="Calibri"/>
              </a:rPr>
              <a:t>Systems</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1" marL="914400" rtl="0" algn="just">
              <a:lnSpc>
                <a:spcPct val="100000"/>
              </a:lnSpc>
              <a:spcBef>
                <a:spcPts val="0"/>
              </a:spcBef>
              <a:spcAft>
                <a:spcPts val="0"/>
              </a:spcAft>
              <a:buSzPts val="1800"/>
              <a:buFont typeface="Calibri"/>
              <a:buChar char="○"/>
            </a:pPr>
            <a:r>
              <a:rPr lang="en-US" sz="1800">
                <a:latin typeface="Calibri"/>
                <a:ea typeface="Calibri"/>
                <a:cs typeface="Calibri"/>
                <a:sym typeface="Calibri"/>
              </a:rPr>
              <a:t>Moves beyond static guidelines into dynamic, multi-agent systems</a:t>
            </a:r>
            <a:endParaRPr sz="1800">
              <a:latin typeface="Calibri"/>
              <a:ea typeface="Calibri"/>
              <a:cs typeface="Calibri"/>
              <a:sym typeface="Calibri"/>
            </a:endParaRPr>
          </a:p>
          <a:p>
            <a:pPr indent="-342900" lvl="1" marL="914400" rtl="0" algn="just">
              <a:lnSpc>
                <a:spcPct val="100000"/>
              </a:lnSpc>
              <a:spcBef>
                <a:spcPts val="0"/>
              </a:spcBef>
              <a:spcAft>
                <a:spcPts val="0"/>
              </a:spcAft>
              <a:buSzPts val="1800"/>
              <a:buFont typeface="Calibri"/>
              <a:buChar char="○"/>
            </a:pPr>
            <a:r>
              <a:rPr lang="en-US" sz="1800">
                <a:latin typeface="Calibri"/>
                <a:ea typeface="Calibri"/>
                <a:cs typeface="Calibri"/>
                <a:sym typeface="Calibri"/>
              </a:rPr>
              <a:t>Facilitates natural language explanations and suggestions aligned with how humans reason about design issues</a:t>
            </a:r>
            <a:br>
              <a:rPr lang="en-US" sz="1800">
                <a:latin typeface="Calibri"/>
                <a:ea typeface="Calibri"/>
                <a:cs typeface="Calibri"/>
                <a:sym typeface="Calibri"/>
              </a:rPr>
            </a:br>
            <a:endParaRPr sz="1800">
              <a:latin typeface="Calibri"/>
              <a:ea typeface="Calibri"/>
              <a:cs typeface="Calibri"/>
              <a:sym typeface="Calibri"/>
            </a:endParaRPr>
          </a:p>
          <a:p>
            <a:pPr indent="-342900" lvl="0" marL="457200" rtl="0" algn="just">
              <a:lnSpc>
                <a:spcPct val="100000"/>
              </a:lnSpc>
              <a:spcBef>
                <a:spcPts val="0"/>
              </a:spcBef>
              <a:spcAft>
                <a:spcPts val="0"/>
              </a:spcAft>
              <a:buClr>
                <a:schemeClr val="dk1"/>
              </a:buClr>
              <a:buSzPts val="1800"/>
              <a:buChar char="●"/>
            </a:pPr>
            <a:r>
              <a:rPr b="1" lang="en-US" sz="1800">
                <a:solidFill>
                  <a:schemeClr val="dk1"/>
                </a:solidFill>
                <a:latin typeface="Calibri"/>
                <a:ea typeface="Calibri"/>
                <a:cs typeface="Calibri"/>
                <a:sym typeface="Calibri"/>
              </a:rPr>
              <a:t>Evaluation via Real Users</a:t>
            </a:r>
            <a:r>
              <a:rPr lang="en-US" sz="1800">
                <a:solidFill>
                  <a:schemeClr val="dk1"/>
                </a:solidFill>
                <a:latin typeface="Calibri"/>
                <a:ea typeface="Calibri"/>
                <a:cs typeface="Calibri"/>
                <a:sym typeface="Calibri"/>
              </a:rPr>
              <a:t>: Validated through user studies to ensure usefulness, trustworthiness, and usability of the recommendations</a:t>
            </a:r>
            <a:endParaRPr sz="1800">
              <a:solidFill>
                <a:schemeClr val="dk1"/>
              </a:solidFill>
              <a:latin typeface="Calibri"/>
              <a:ea typeface="Calibri"/>
              <a:cs typeface="Calibri"/>
              <a:sym typeface="Calibri"/>
            </a:endParaRPr>
          </a:p>
        </p:txBody>
      </p:sp>
      <p:sp>
        <p:nvSpPr>
          <p:cNvPr id="261" name="Google Shape;261;p3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u="sng">
                <a:solidFill>
                  <a:schemeClr val="dk1"/>
                </a:solidFill>
              </a:rPr>
              <a:t>Related Work</a:t>
            </a:r>
            <a:endParaRPr u="sng">
              <a:solidFill>
                <a:schemeClr val="dk1"/>
              </a:solidFill>
            </a:endParaRPr>
          </a:p>
        </p:txBody>
      </p:sp>
      <p:sp>
        <p:nvSpPr>
          <p:cNvPr id="268" name="Google Shape;268;p34"/>
          <p:cNvSpPr txBox="1"/>
          <p:nvPr>
            <p:ph idx="1" type="body"/>
          </p:nvPr>
        </p:nvSpPr>
        <p:spPr>
          <a:xfrm>
            <a:off x="652463" y="1786924"/>
            <a:ext cx="10370100" cy="4120200"/>
          </a:xfrm>
          <a:prstGeom prst="rect">
            <a:avLst/>
          </a:prstGeom>
        </p:spPr>
        <p:txBody>
          <a:bodyPr anchorCtr="0" anchor="t" bIns="45700" lIns="91425" spcFirstLastPara="1" rIns="91425" wrap="square" tIns="45700">
            <a:normAutofit/>
          </a:bodyPr>
          <a:lstStyle/>
          <a:p>
            <a:pPr indent="-342900" lvl="0" marL="457200" rtl="0" algn="just">
              <a:spcBef>
                <a:spcPts val="100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Advancing Web Accessibility: Leveraging Generative AI for Enhanced WCAG Compliance</a:t>
            </a:r>
            <a:r>
              <a:rPr lang="en-US" sz="1800">
                <a:solidFill>
                  <a:schemeClr val="dk1"/>
                </a:solidFill>
                <a:latin typeface="Calibri"/>
                <a:ea typeface="Calibri"/>
                <a:cs typeface="Calibri"/>
                <a:sym typeface="Calibri"/>
              </a:rPr>
              <a:t> - Explores the use of generative AI to automate routine evaluations and offer advanced refactoring methodologies to enhance WCAG compliance</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just">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From Cluttered to Clear: Improving the Web Accessibility Design for Screen Reader Users in E-commerce With Generative AI</a:t>
            </a:r>
            <a:r>
              <a:rPr lang="en-US" sz="1800">
                <a:solidFill>
                  <a:schemeClr val="dk1"/>
                </a:solidFill>
                <a:latin typeface="Calibri"/>
                <a:ea typeface="Calibri"/>
                <a:cs typeface="Calibri"/>
                <a:sym typeface="Calibri"/>
              </a:rPr>
              <a:t> - Provides a browser plugin that uses generative AI to restructure webpage content in real time, improving navigation for screen reader users on e-commerce platforms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just">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AI in Web Development</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Enhancing Accessibility</a:t>
            </a:r>
            <a:r>
              <a:rPr lang="en-US" sz="1800">
                <a:solidFill>
                  <a:schemeClr val="dk1"/>
                </a:solidFill>
                <a:latin typeface="Calibri"/>
                <a:ea typeface="Calibri"/>
                <a:cs typeface="Calibri"/>
                <a:sym typeface="Calibri"/>
              </a:rPr>
              <a:t> - Discusses the incorporation of AI into web development to make it more accessible, including AI-driven accessibility audits and personalized user experiences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342900" lvl="0" marL="457200" rtl="0" algn="just">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WebUI</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A Dataset for Enhancing Visual UI Understanding with Web Semantics</a:t>
            </a:r>
            <a:r>
              <a:rPr lang="en-US" sz="1800">
                <a:solidFill>
                  <a:schemeClr val="dk1"/>
                </a:solidFill>
                <a:latin typeface="Calibri"/>
                <a:ea typeface="Calibri"/>
                <a:cs typeface="Calibri"/>
                <a:sym typeface="Calibri"/>
              </a:rPr>
              <a:t> - Provides a large collection of rendered web pages with extracted metadata, aiding in visual UI understanding</a:t>
            </a:r>
            <a:endParaRPr sz="1800">
              <a:solidFill>
                <a:schemeClr val="dk1"/>
              </a:solidFill>
              <a:latin typeface="Calibri"/>
              <a:ea typeface="Calibri"/>
              <a:cs typeface="Calibri"/>
              <a:sym typeface="Calibri"/>
            </a:endParaRPr>
          </a:p>
        </p:txBody>
      </p:sp>
      <p:sp>
        <p:nvSpPr>
          <p:cNvPr id="269" name="Google Shape;269;p3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Related Work</a:t>
            </a:r>
            <a:endParaRPr u="sng">
              <a:solidFill>
                <a:schemeClr val="dk1"/>
              </a:solidFill>
            </a:endParaRPr>
          </a:p>
        </p:txBody>
      </p:sp>
      <p:sp>
        <p:nvSpPr>
          <p:cNvPr id="276" name="Google Shape;276;p35"/>
          <p:cNvSpPr txBox="1"/>
          <p:nvPr>
            <p:ph idx="1" type="body"/>
          </p:nvPr>
        </p:nvSpPr>
        <p:spPr>
          <a:xfrm>
            <a:off x="652463" y="1795749"/>
            <a:ext cx="10370100" cy="41202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None/>
            </a:pPr>
            <a:r>
              <a:rPr lang="en-US" sz="1800">
                <a:solidFill>
                  <a:schemeClr val="dk1"/>
                </a:solidFill>
                <a:latin typeface="Calibri"/>
                <a:ea typeface="Calibri"/>
                <a:cs typeface="Calibri"/>
                <a:sym typeface="Calibri"/>
              </a:rPr>
              <a:t>5. </a:t>
            </a:r>
            <a:r>
              <a:rPr b="1" lang="en-US" sz="1800">
                <a:solidFill>
                  <a:schemeClr val="dk1"/>
                </a:solidFill>
                <a:latin typeface="Calibri"/>
                <a:ea typeface="Calibri"/>
                <a:cs typeface="Calibri"/>
                <a:sym typeface="Calibri"/>
              </a:rPr>
              <a:t>Rico: A Mobile App Dataset for Building Data-Driven Design Applications</a:t>
            </a:r>
            <a:r>
              <a:rPr lang="en-US" sz="1800">
                <a:solidFill>
                  <a:schemeClr val="dk1"/>
                </a:solidFill>
                <a:latin typeface="Calibri"/>
                <a:ea typeface="Calibri"/>
                <a:cs typeface="Calibri"/>
                <a:sym typeface="Calibri"/>
              </a:rPr>
              <a:t> - Rico offers a dataset of mobile app interfaces to support data-driven design applications</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rtl="0" algn="just">
              <a:spcBef>
                <a:spcPts val="1000"/>
              </a:spcBef>
              <a:spcAft>
                <a:spcPts val="0"/>
              </a:spcAft>
              <a:buNone/>
            </a:pPr>
            <a:r>
              <a:t/>
            </a:r>
            <a:endParaRPr sz="1800">
              <a:solidFill>
                <a:schemeClr val="dk1"/>
              </a:solidFill>
              <a:latin typeface="Calibri"/>
              <a:ea typeface="Calibri"/>
              <a:cs typeface="Calibri"/>
              <a:sym typeface="Calibri"/>
            </a:endParaRPr>
          </a:p>
          <a:p>
            <a:pPr indent="0" lvl="0" marL="0" rtl="0" algn="just">
              <a:spcBef>
                <a:spcPts val="1000"/>
              </a:spcBef>
              <a:spcAft>
                <a:spcPts val="0"/>
              </a:spcAft>
              <a:buNone/>
            </a:pPr>
            <a:r>
              <a:rPr lang="en-US" sz="1800">
                <a:solidFill>
                  <a:schemeClr val="dk1"/>
                </a:solidFill>
                <a:latin typeface="Calibri"/>
                <a:ea typeface="Calibri"/>
                <a:cs typeface="Calibri"/>
                <a:sym typeface="Calibri"/>
              </a:rPr>
              <a:t>6. </a:t>
            </a:r>
            <a:r>
              <a:rPr b="1" lang="en-US" sz="1800">
                <a:solidFill>
                  <a:schemeClr val="dk1"/>
                </a:solidFill>
                <a:latin typeface="Calibri"/>
                <a:ea typeface="Calibri"/>
                <a:cs typeface="Calibri"/>
                <a:sym typeface="Calibri"/>
              </a:rPr>
              <a:t>Evaluating Large Language Models in Generating Synthetic HCI Research Data</a:t>
            </a:r>
            <a:r>
              <a:rPr lang="en-US" sz="1800">
                <a:solidFill>
                  <a:schemeClr val="dk1"/>
                </a:solidFill>
                <a:latin typeface="Calibri"/>
                <a:ea typeface="Calibri"/>
                <a:cs typeface="Calibri"/>
                <a:sym typeface="Calibri"/>
              </a:rPr>
              <a:t> - This study evaluates the use of large language models to generate synthetic HCI research data, assessing the realism and utility of such data</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rtl="0" algn="just">
              <a:spcBef>
                <a:spcPts val="1000"/>
              </a:spcBef>
              <a:spcAft>
                <a:spcPts val="0"/>
              </a:spcAft>
              <a:buNone/>
            </a:pPr>
            <a:r>
              <a:t/>
            </a:r>
            <a:endParaRPr sz="1800">
              <a:solidFill>
                <a:schemeClr val="dk1"/>
              </a:solidFill>
              <a:latin typeface="Calibri"/>
              <a:ea typeface="Calibri"/>
              <a:cs typeface="Calibri"/>
              <a:sym typeface="Calibri"/>
            </a:endParaRPr>
          </a:p>
          <a:p>
            <a:pPr indent="0" lvl="0" marL="0" rtl="0" algn="just">
              <a:spcBef>
                <a:spcPts val="1000"/>
              </a:spcBef>
              <a:spcAft>
                <a:spcPts val="0"/>
              </a:spcAft>
              <a:buNone/>
            </a:pPr>
            <a:r>
              <a:rPr lang="en-US" sz="1800">
                <a:solidFill>
                  <a:schemeClr val="dk1"/>
                </a:solidFill>
                <a:latin typeface="Calibri"/>
                <a:ea typeface="Calibri"/>
                <a:cs typeface="Calibri"/>
                <a:sym typeface="Calibri"/>
              </a:rPr>
              <a:t>7.</a:t>
            </a:r>
            <a:r>
              <a:rPr b="1" lang="en-US" sz="1800">
                <a:solidFill>
                  <a:schemeClr val="dk1"/>
                </a:solidFill>
                <a:latin typeface="Calibri"/>
                <a:ea typeface="Calibri"/>
                <a:cs typeface="Calibri"/>
                <a:sym typeface="Calibri"/>
              </a:rPr>
              <a:t>CoAuthor: Designing a Human-AI Collaborative Writing Dataset </a:t>
            </a:r>
            <a:r>
              <a:rPr lang="en-US" sz="1800">
                <a:solidFill>
                  <a:schemeClr val="dk1"/>
                </a:solidFill>
                <a:latin typeface="Calibri"/>
                <a:ea typeface="Calibri"/>
                <a:cs typeface="Calibri"/>
                <a:sym typeface="Calibri"/>
              </a:rPr>
              <a:t> - CoAuthor captures interactions between humans and AI during collaborative writing tasks, providing insights into AI's role in creative processes</a:t>
            </a:r>
            <a:endParaRPr>
              <a:latin typeface="Calibri"/>
              <a:ea typeface="Calibri"/>
              <a:cs typeface="Calibri"/>
              <a:sym typeface="Calibri"/>
            </a:endParaRPr>
          </a:p>
        </p:txBody>
      </p:sp>
      <p:sp>
        <p:nvSpPr>
          <p:cNvPr id="277" name="Google Shape;277;p3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chemeClr val="dk1"/>
                </a:solidFill>
              </a:rPr>
              <a:t>RQ1: Can we generate an LLM-augmented dataset for accessibility fixes from web UI data?</a:t>
            </a:r>
            <a:r>
              <a:rPr lang="en-US"/>
              <a:t> </a:t>
            </a:r>
            <a:endParaRPr/>
          </a:p>
        </p:txBody>
      </p:sp>
      <p:sp>
        <p:nvSpPr>
          <p:cNvPr id="284" name="Google Shape;284;p36"/>
          <p:cNvSpPr txBox="1"/>
          <p:nvPr>
            <p:ph idx="1" type="body"/>
          </p:nvPr>
        </p:nvSpPr>
        <p:spPr>
          <a:xfrm>
            <a:off x="652475" y="1466375"/>
            <a:ext cx="10370100" cy="4792800"/>
          </a:xfrm>
          <a:prstGeom prst="rect">
            <a:avLst/>
          </a:prstGeom>
        </p:spPr>
        <p:txBody>
          <a:bodyPr anchorCtr="0" anchor="t" bIns="45700" lIns="91425" spcFirstLastPara="1" rIns="91425" wrap="square" tIns="45700">
            <a:noAutofit/>
          </a:bodyPr>
          <a:lstStyle/>
          <a:p>
            <a:pPr indent="0" lvl="0" marL="0" rtl="0" algn="l">
              <a:lnSpc>
                <a:spcPct val="105000"/>
              </a:lnSpc>
              <a:spcBef>
                <a:spcPts val="1200"/>
              </a:spcBef>
              <a:spcAft>
                <a:spcPts val="0"/>
              </a:spcAft>
              <a:buClr>
                <a:schemeClr val="dk1"/>
              </a:buClr>
              <a:buSzPts val="1100"/>
              <a:buFont typeface="Arial"/>
              <a:buNone/>
            </a:pPr>
            <a:r>
              <a:rPr b="1" lang="en-US" sz="1500">
                <a:solidFill>
                  <a:schemeClr val="dk1"/>
                </a:solidFill>
                <a:latin typeface="Calibri"/>
                <a:ea typeface="Calibri"/>
                <a:cs typeface="Calibri"/>
                <a:sym typeface="Calibri"/>
              </a:rPr>
              <a:t>How We Answered:</a:t>
            </a:r>
            <a:endParaRPr b="1" sz="1500">
              <a:solidFill>
                <a:schemeClr val="dk1"/>
              </a:solidFill>
              <a:latin typeface="Calibri"/>
              <a:ea typeface="Calibri"/>
              <a:cs typeface="Calibri"/>
              <a:sym typeface="Calibri"/>
            </a:endParaRPr>
          </a:p>
          <a:p>
            <a:pPr indent="-323850" lvl="0" marL="457200" rtl="0" algn="l">
              <a:lnSpc>
                <a:spcPct val="105000"/>
              </a:lnSpc>
              <a:spcBef>
                <a:spcPts val="1200"/>
              </a:spcBef>
              <a:spcAft>
                <a:spcPts val="0"/>
              </a:spcAft>
              <a:buClr>
                <a:schemeClr val="dk1"/>
              </a:buClr>
              <a:buSzPts val="1500"/>
              <a:buChar char="●"/>
            </a:pPr>
            <a:r>
              <a:rPr b="1" lang="en-US" sz="1500">
                <a:solidFill>
                  <a:schemeClr val="dk1"/>
                </a:solidFill>
                <a:latin typeface="Calibri"/>
                <a:ea typeface="Calibri"/>
                <a:cs typeface="Calibri"/>
                <a:sym typeface="Calibri"/>
              </a:rPr>
              <a:t>WebUI7k + AXE Violations</a:t>
            </a:r>
            <a:r>
              <a:rPr lang="en-US" sz="1500">
                <a:solidFill>
                  <a:schemeClr val="dk1"/>
                </a:solidFill>
                <a:latin typeface="Calibri"/>
                <a:ea typeface="Calibri"/>
                <a:cs typeface="Calibri"/>
                <a:sym typeface="Calibri"/>
              </a:rPr>
              <a:t>:</a:t>
            </a:r>
            <a:br>
              <a:rPr lang="en-US" sz="1500">
                <a:solidFill>
                  <a:schemeClr val="dk1"/>
                </a:solidFill>
                <a:latin typeface="Calibri"/>
                <a:ea typeface="Calibri"/>
                <a:cs typeface="Calibri"/>
                <a:sym typeface="Calibri"/>
              </a:rPr>
            </a:br>
            <a:endParaRPr sz="1500">
              <a:solidFill>
                <a:schemeClr val="dk1"/>
              </a:solidFill>
              <a:latin typeface="Calibri"/>
              <a:ea typeface="Calibri"/>
              <a:cs typeface="Calibri"/>
              <a:sym typeface="Calibri"/>
            </a:endParaRPr>
          </a:p>
          <a:p>
            <a:pPr indent="-323850" lvl="1" marL="914400" rtl="0" algn="l">
              <a:lnSpc>
                <a:spcPct val="105000"/>
              </a:lnSpc>
              <a:spcBef>
                <a:spcPts val="0"/>
              </a:spcBef>
              <a:spcAft>
                <a:spcPts val="0"/>
              </a:spcAft>
              <a:buSzPts val="1500"/>
              <a:buFont typeface="Calibri"/>
              <a:buChar char="○"/>
            </a:pPr>
            <a:r>
              <a:rPr lang="en-US" sz="1500">
                <a:latin typeface="Calibri"/>
                <a:ea typeface="Calibri"/>
                <a:cs typeface="Calibri"/>
                <a:sym typeface="Calibri"/>
              </a:rPr>
              <a:t>Started with WebUI7k, a dataset of web UI screenshots and code</a:t>
            </a:r>
            <a:endParaRPr sz="1500">
              <a:latin typeface="Calibri"/>
              <a:ea typeface="Calibri"/>
              <a:cs typeface="Calibri"/>
              <a:sym typeface="Calibri"/>
            </a:endParaRPr>
          </a:p>
          <a:p>
            <a:pPr indent="-323850" lvl="1" marL="914400" rtl="0" algn="l">
              <a:lnSpc>
                <a:spcPct val="105000"/>
              </a:lnSpc>
              <a:spcBef>
                <a:spcPts val="0"/>
              </a:spcBef>
              <a:spcAft>
                <a:spcPts val="0"/>
              </a:spcAft>
              <a:buSzPts val="1500"/>
              <a:buChar char="○"/>
            </a:pPr>
            <a:r>
              <a:rPr lang="en-US" sz="1500">
                <a:latin typeface="Calibri"/>
                <a:ea typeface="Calibri"/>
                <a:cs typeface="Calibri"/>
                <a:sym typeface="Calibri"/>
              </a:rPr>
              <a:t>Ran AXE tool to annotate existing </a:t>
            </a:r>
            <a:r>
              <a:rPr b="1" lang="en-US" sz="1500">
                <a:latin typeface="Calibri"/>
                <a:ea typeface="Calibri"/>
                <a:cs typeface="Calibri"/>
                <a:sym typeface="Calibri"/>
              </a:rPr>
              <a:t>rule-based accessibility violations</a:t>
            </a:r>
            <a:br>
              <a:rPr lang="en-US" sz="1500">
                <a:latin typeface="Calibri"/>
                <a:ea typeface="Calibri"/>
                <a:cs typeface="Calibri"/>
                <a:sym typeface="Calibri"/>
              </a:rPr>
            </a:br>
            <a:endParaRPr sz="1500">
              <a:latin typeface="Calibri"/>
              <a:ea typeface="Calibri"/>
              <a:cs typeface="Calibri"/>
              <a:sym typeface="Calibri"/>
            </a:endParaRPr>
          </a:p>
          <a:p>
            <a:pPr indent="-323850" lvl="0" marL="457200" rtl="0" algn="l">
              <a:lnSpc>
                <a:spcPct val="105000"/>
              </a:lnSpc>
              <a:spcBef>
                <a:spcPts val="0"/>
              </a:spcBef>
              <a:spcAft>
                <a:spcPts val="0"/>
              </a:spcAft>
              <a:buClr>
                <a:schemeClr val="dk1"/>
              </a:buClr>
              <a:buSzPts val="1500"/>
              <a:buChar char="●"/>
            </a:pPr>
            <a:r>
              <a:rPr b="1" lang="en-US" sz="1500">
                <a:solidFill>
                  <a:schemeClr val="dk1"/>
                </a:solidFill>
                <a:latin typeface="Calibri"/>
                <a:ea typeface="Calibri"/>
                <a:cs typeface="Calibri"/>
                <a:sym typeface="Calibri"/>
              </a:rPr>
              <a:t>LLM-Augmented Fix Generation</a:t>
            </a:r>
            <a:r>
              <a:rPr lang="en-US" sz="1500">
                <a:solidFill>
                  <a:schemeClr val="dk1"/>
                </a:solidFill>
                <a:latin typeface="Calibri"/>
                <a:ea typeface="Calibri"/>
                <a:cs typeface="Calibri"/>
                <a:sym typeface="Calibri"/>
              </a:rPr>
              <a:t>:</a:t>
            </a:r>
            <a:br>
              <a:rPr lang="en-US" sz="1500">
                <a:solidFill>
                  <a:schemeClr val="dk1"/>
                </a:solidFill>
                <a:latin typeface="Calibri"/>
                <a:ea typeface="Calibri"/>
                <a:cs typeface="Calibri"/>
                <a:sym typeface="Calibri"/>
              </a:rPr>
            </a:br>
            <a:endParaRPr sz="1500">
              <a:solidFill>
                <a:schemeClr val="dk1"/>
              </a:solidFill>
              <a:latin typeface="Calibri"/>
              <a:ea typeface="Calibri"/>
              <a:cs typeface="Calibri"/>
              <a:sym typeface="Calibri"/>
            </a:endParaRPr>
          </a:p>
          <a:p>
            <a:pPr indent="-323850" lvl="1" marL="914400" rtl="0" algn="l">
              <a:lnSpc>
                <a:spcPct val="105000"/>
              </a:lnSpc>
              <a:spcBef>
                <a:spcPts val="0"/>
              </a:spcBef>
              <a:spcAft>
                <a:spcPts val="0"/>
              </a:spcAft>
              <a:buSzPts val="1500"/>
              <a:buFont typeface="Calibri"/>
              <a:buChar char="○"/>
            </a:pPr>
            <a:r>
              <a:rPr lang="en-US" sz="1500">
                <a:latin typeface="Calibri"/>
                <a:ea typeface="Calibri"/>
                <a:cs typeface="Calibri"/>
                <a:sym typeface="Calibri"/>
              </a:rPr>
              <a:t>Trained/fine-tuned multiple agents (Semantic, Contrast, Image Captioning) on this data</a:t>
            </a:r>
            <a:endParaRPr sz="1500">
              <a:latin typeface="Calibri"/>
              <a:ea typeface="Calibri"/>
              <a:cs typeface="Calibri"/>
              <a:sym typeface="Calibri"/>
            </a:endParaRPr>
          </a:p>
          <a:p>
            <a:pPr indent="-323850" lvl="1" marL="914400" rtl="0" algn="l">
              <a:lnSpc>
                <a:spcPct val="105000"/>
              </a:lnSpc>
              <a:spcBef>
                <a:spcPts val="0"/>
              </a:spcBef>
              <a:spcAft>
                <a:spcPts val="0"/>
              </a:spcAft>
              <a:buSzPts val="1500"/>
              <a:buChar char="○"/>
            </a:pPr>
            <a:r>
              <a:rPr lang="en-US" sz="1500">
                <a:latin typeface="Calibri"/>
                <a:ea typeface="Calibri"/>
                <a:cs typeface="Calibri"/>
                <a:sym typeface="Calibri"/>
              </a:rPr>
              <a:t>Each agent learned to detect a specific violation type and </a:t>
            </a:r>
            <a:r>
              <a:rPr b="1" lang="en-US" sz="1500">
                <a:latin typeface="Calibri"/>
                <a:ea typeface="Calibri"/>
                <a:cs typeface="Calibri"/>
                <a:sym typeface="Calibri"/>
              </a:rPr>
              <a:t>generate context-aware, natural language fixes</a:t>
            </a:r>
            <a:br>
              <a:rPr lang="en-US" sz="1500">
                <a:latin typeface="Calibri"/>
                <a:ea typeface="Calibri"/>
                <a:cs typeface="Calibri"/>
                <a:sym typeface="Calibri"/>
              </a:rPr>
            </a:br>
            <a:endParaRPr sz="1500">
              <a:latin typeface="Calibri"/>
              <a:ea typeface="Calibri"/>
              <a:cs typeface="Calibri"/>
              <a:sym typeface="Calibri"/>
            </a:endParaRPr>
          </a:p>
          <a:p>
            <a:pPr indent="-323850" lvl="0" marL="457200" rtl="0" algn="l">
              <a:lnSpc>
                <a:spcPct val="105000"/>
              </a:lnSpc>
              <a:spcBef>
                <a:spcPts val="0"/>
              </a:spcBef>
              <a:spcAft>
                <a:spcPts val="0"/>
              </a:spcAft>
              <a:buClr>
                <a:schemeClr val="dk1"/>
              </a:buClr>
              <a:buSzPts val="1500"/>
              <a:buChar char="●"/>
            </a:pPr>
            <a:r>
              <a:rPr b="1" lang="en-US" sz="1500">
                <a:solidFill>
                  <a:schemeClr val="dk1"/>
                </a:solidFill>
                <a:latin typeface="Calibri"/>
                <a:ea typeface="Calibri"/>
                <a:cs typeface="Calibri"/>
                <a:sym typeface="Calibri"/>
              </a:rPr>
              <a:t>Created Fixes Dataset</a:t>
            </a:r>
            <a:r>
              <a:rPr lang="en-US" sz="1500">
                <a:solidFill>
                  <a:schemeClr val="dk1"/>
                </a:solidFill>
                <a:latin typeface="Calibri"/>
                <a:ea typeface="Calibri"/>
                <a:cs typeface="Calibri"/>
                <a:sym typeface="Calibri"/>
              </a:rPr>
              <a:t>:</a:t>
            </a:r>
            <a:br>
              <a:rPr lang="en-US" sz="1500">
                <a:solidFill>
                  <a:schemeClr val="dk1"/>
                </a:solidFill>
                <a:latin typeface="Calibri"/>
                <a:ea typeface="Calibri"/>
                <a:cs typeface="Calibri"/>
                <a:sym typeface="Calibri"/>
              </a:rPr>
            </a:br>
            <a:endParaRPr sz="1500">
              <a:solidFill>
                <a:schemeClr val="dk1"/>
              </a:solidFill>
              <a:latin typeface="Calibri"/>
              <a:ea typeface="Calibri"/>
              <a:cs typeface="Calibri"/>
              <a:sym typeface="Calibri"/>
            </a:endParaRPr>
          </a:p>
          <a:p>
            <a:pPr indent="-323850" lvl="1" marL="914400" rtl="0" algn="l">
              <a:lnSpc>
                <a:spcPct val="105000"/>
              </a:lnSpc>
              <a:spcBef>
                <a:spcPts val="0"/>
              </a:spcBef>
              <a:spcAft>
                <a:spcPts val="0"/>
              </a:spcAft>
              <a:buSzPts val="1500"/>
              <a:buFont typeface="Calibri"/>
              <a:buChar char="○"/>
            </a:pPr>
            <a:r>
              <a:rPr lang="en-US" sz="1500">
                <a:latin typeface="Calibri"/>
                <a:ea typeface="Calibri"/>
                <a:cs typeface="Calibri"/>
                <a:sym typeface="Calibri"/>
              </a:rPr>
              <a:t>Compiled a new dataset that includes:</a:t>
            </a:r>
            <a:br>
              <a:rPr lang="en-US" sz="1500">
                <a:latin typeface="Calibri"/>
                <a:ea typeface="Calibri"/>
                <a:cs typeface="Calibri"/>
                <a:sym typeface="Calibri"/>
              </a:rPr>
            </a:br>
            <a:endParaRPr sz="1500">
              <a:latin typeface="Calibri"/>
              <a:ea typeface="Calibri"/>
              <a:cs typeface="Calibri"/>
              <a:sym typeface="Calibri"/>
            </a:endParaRPr>
          </a:p>
          <a:p>
            <a:pPr indent="-323850" lvl="2" marL="1371600" rtl="0" algn="l">
              <a:lnSpc>
                <a:spcPct val="105000"/>
              </a:lnSpc>
              <a:spcBef>
                <a:spcPts val="0"/>
              </a:spcBef>
              <a:spcAft>
                <a:spcPts val="0"/>
              </a:spcAft>
              <a:buSzPts val="1500"/>
              <a:buFont typeface="Calibri"/>
              <a:buChar char="■"/>
            </a:pPr>
            <a:r>
              <a:rPr lang="en-US" sz="1500">
                <a:latin typeface="Calibri"/>
                <a:ea typeface="Calibri"/>
                <a:cs typeface="Calibri"/>
                <a:sym typeface="Calibri"/>
              </a:rPr>
              <a:t>Web page code/snippet</a:t>
            </a:r>
            <a:endParaRPr sz="1500">
              <a:latin typeface="Calibri"/>
              <a:ea typeface="Calibri"/>
              <a:cs typeface="Calibri"/>
              <a:sym typeface="Calibri"/>
            </a:endParaRPr>
          </a:p>
          <a:p>
            <a:pPr indent="-323850" lvl="2" marL="1371600" rtl="0" algn="l">
              <a:lnSpc>
                <a:spcPct val="105000"/>
              </a:lnSpc>
              <a:spcBef>
                <a:spcPts val="0"/>
              </a:spcBef>
              <a:spcAft>
                <a:spcPts val="0"/>
              </a:spcAft>
              <a:buSzPts val="1500"/>
              <a:buFont typeface="Calibri"/>
              <a:buChar char="■"/>
            </a:pPr>
            <a:r>
              <a:rPr lang="en-US" sz="1500">
                <a:latin typeface="Calibri"/>
                <a:ea typeface="Calibri"/>
                <a:cs typeface="Calibri"/>
                <a:sym typeface="Calibri"/>
              </a:rPr>
              <a:t>Detected violation (from AXE and LLM)</a:t>
            </a:r>
            <a:endParaRPr sz="1500">
              <a:latin typeface="Calibri"/>
              <a:ea typeface="Calibri"/>
              <a:cs typeface="Calibri"/>
              <a:sym typeface="Calibri"/>
            </a:endParaRPr>
          </a:p>
          <a:p>
            <a:pPr indent="-323850" lvl="2" marL="1371600" rtl="0" algn="l">
              <a:lnSpc>
                <a:spcPct val="105000"/>
              </a:lnSpc>
              <a:spcBef>
                <a:spcPts val="0"/>
              </a:spcBef>
              <a:spcAft>
                <a:spcPts val="0"/>
              </a:spcAft>
              <a:buSzPts val="1500"/>
              <a:buFont typeface="Calibri"/>
              <a:buChar char="■"/>
            </a:pPr>
            <a:r>
              <a:rPr lang="en-US" sz="1500">
                <a:latin typeface="Calibri"/>
                <a:ea typeface="Calibri"/>
                <a:cs typeface="Calibri"/>
                <a:sym typeface="Calibri"/>
              </a:rPr>
              <a:t>Fix recommended by the fixing agent</a:t>
            </a:r>
            <a:endParaRPr sz="2400">
              <a:latin typeface="Calibri"/>
              <a:ea typeface="Calibri"/>
              <a:cs typeface="Calibri"/>
              <a:sym typeface="Calibri"/>
            </a:endParaRPr>
          </a:p>
        </p:txBody>
      </p:sp>
      <p:sp>
        <p:nvSpPr>
          <p:cNvPr id="285" name="Google Shape;285;p3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chemeClr val="dk1"/>
                </a:solidFill>
              </a:rPr>
              <a:t>RQ2: Can AI agents recommend meaningful, user-centered fixes for accessibility issues?</a:t>
            </a:r>
            <a:endParaRPr>
              <a:solidFill>
                <a:schemeClr val="dk1"/>
              </a:solidFill>
            </a:endParaRPr>
          </a:p>
        </p:txBody>
      </p:sp>
      <p:sp>
        <p:nvSpPr>
          <p:cNvPr id="292" name="Google Shape;292;p37"/>
          <p:cNvSpPr txBox="1"/>
          <p:nvPr>
            <p:ph idx="1" type="body"/>
          </p:nvPr>
        </p:nvSpPr>
        <p:spPr>
          <a:xfrm>
            <a:off x="652475" y="1685200"/>
            <a:ext cx="10370100" cy="45672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How We Answered:</a:t>
            </a:r>
            <a:endParaRPr b="1" sz="1600">
              <a:solidFill>
                <a:schemeClr val="dk1"/>
              </a:solidFill>
              <a:latin typeface="Calibri"/>
              <a:ea typeface="Calibri"/>
              <a:cs typeface="Calibri"/>
              <a:sym typeface="Calibri"/>
            </a:endParaRPr>
          </a:p>
          <a:p>
            <a:pPr indent="-330200" lvl="0" marL="457200" rtl="0" algn="l">
              <a:lnSpc>
                <a:spcPct val="95000"/>
              </a:lnSpc>
              <a:spcBef>
                <a:spcPts val="1200"/>
              </a:spcBef>
              <a:spcAft>
                <a:spcPts val="0"/>
              </a:spcAft>
              <a:buClr>
                <a:schemeClr val="dk1"/>
              </a:buClr>
              <a:buSzPts val="1600"/>
              <a:buChar char="●"/>
            </a:pPr>
            <a:r>
              <a:rPr b="1" lang="en-US" sz="1600">
                <a:solidFill>
                  <a:schemeClr val="dk1"/>
                </a:solidFill>
                <a:latin typeface="Calibri"/>
                <a:ea typeface="Calibri"/>
                <a:cs typeface="Calibri"/>
                <a:sym typeface="Calibri"/>
              </a:rPr>
              <a:t>Agent-Specific Fix Recommendations: </a:t>
            </a:r>
            <a:r>
              <a:rPr lang="en-US" sz="1600">
                <a:solidFill>
                  <a:schemeClr val="dk1"/>
                </a:solidFill>
                <a:latin typeface="Calibri"/>
                <a:ea typeface="Calibri"/>
                <a:cs typeface="Calibri"/>
                <a:sym typeface="Calibri"/>
              </a:rPr>
              <a:t>Each fine-tuned agent (Semantic, Contrast, Image Captioning) independently analyzes violations and generates targeted fixes</a:t>
            </a:r>
            <a:br>
              <a:rPr b="1" lang="en-US" sz="1600">
                <a:solidFill>
                  <a:schemeClr val="dk1"/>
                </a:solidFill>
                <a:latin typeface="Calibri"/>
                <a:ea typeface="Calibri"/>
                <a:cs typeface="Calibri"/>
                <a:sym typeface="Calibri"/>
              </a:rPr>
            </a:br>
            <a:endParaRPr b="1"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Char char="●"/>
            </a:pPr>
            <a:r>
              <a:rPr b="1" lang="en-US" sz="1600">
                <a:solidFill>
                  <a:schemeClr val="dk1"/>
                </a:solidFill>
                <a:latin typeface="Calibri"/>
                <a:ea typeface="Calibri"/>
                <a:cs typeface="Calibri"/>
                <a:sym typeface="Calibri"/>
              </a:rPr>
              <a:t>Fixing Agent</a:t>
            </a:r>
            <a:r>
              <a:rPr lang="en-US" sz="1600">
                <a:solidFill>
                  <a:schemeClr val="dk1"/>
                </a:solidFill>
                <a:latin typeface="Calibri"/>
                <a:ea typeface="Calibri"/>
                <a:cs typeface="Calibri"/>
                <a:sym typeface="Calibri"/>
              </a:rPr>
              <a:t>: Aggregates outputs from all agents and recommends fixes</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Char char="●"/>
            </a:pPr>
            <a:r>
              <a:rPr b="1" lang="en-US" sz="1600">
                <a:solidFill>
                  <a:schemeClr val="dk1"/>
                </a:solidFill>
                <a:latin typeface="Calibri"/>
                <a:ea typeface="Calibri"/>
                <a:cs typeface="Calibri"/>
                <a:sym typeface="Calibri"/>
              </a:rPr>
              <a:t>Fixes Dataset</a:t>
            </a:r>
            <a:r>
              <a:rPr lang="en-US" sz="1600">
                <a:solidFill>
                  <a:schemeClr val="dk1"/>
                </a:solidFill>
                <a:latin typeface="Calibri"/>
                <a:ea typeface="Calibri"/>
                <a:cs typeface="Calibri"/>
                <a:sym typeface="Calibri"/>
              </a:rPr>
              <a:t>: Created a new dataset pairing real-world websites, violations, and </a:t>
            </a:r>
            <a:r>
              <a:rPr b="1" lang="en-US" sz="1600">
                <a:solidFill>
                  <a:schemeClr val="dk1"/>
                </a:solidFill>
                <a:latin typeface="Calibri"/>
                <a:ea typeface="Calibri"/>
                <a:cs typeface="Calibri"/>
                <a:sym typeface="Calibri"/>
              </a:rPr>
              <a:t>agent-generated fixes</a:t>
            </a:r>
            <a:endParaRPr sz="1600">
              <a:solidFill>
                <a:schemeClr val="dk1"/>
              </a:solidFill>
              <a:latin typeface="Calibri"/>
              <a:ea typeface="Calibri"/>
              <a:cs typeface="Calibri"/>
              <a:sym typeface="Calibri"/>
            </a:endParaRPr>
          </a:p>
          <a:p>
            <a:pPr indent="0" lvl="0" marL="0" rtl="0" algn="l">
              <a:lnSpc>
                <a:spcPct val="95000"/>
              </a:lnSpc>
              <a:spcBef>
                <a:spcPts val="120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Justification of Methodology:</a:t>
            </a:r>
            <a:endParaRPr b="1" sz="1600">
              <a:solidFill>
                <a:schemeClr val="dk1"/>
              </a:solidFill>
              <a:latin typeface="Calibri"/>
              <a:ea typeface="Calibri"/>
              <a:cs typeface="Calibri"/>
              <a:sym typeface="Calibri"/>
            </a:endParaRPr>
          </a:p>
          <a:p>
            <a:pPr indent="-330200" lvl="0" marL="457200" rtl="0" algn="l">
              <a:lnSpc>
                <a:spcPct val="95000"/>
              </a:lnSpc>
              <a:spcBef>
                <a:spcPts val="1200"/>
              </a:spcBef>
              <a:spcAft>
                <a:spcPts val="0"/>
              </a:spcAft>
              <a:buClr>
                <a:schemeClr val="dk1"/>
              </a:buClr>
              <a:buSzPts val="1600"/>
              <a:buChar char="●"/>
            </a:pPr>
            <a:r>
              <a:rPr lang="en-US" sz="1600">
                <a:solidFill>
                  <a:schemeClr val="dk1"/>
                </a:solidFill>
                <a:latin typeface="Calibri"/>
                <a:ea typeface="Calibri"/>
                <a:cs typeface="Calibri"/>
                <a:sym typeface="Calibri"/>
              </a:rPr>
              <a:t>Used </a:t>
            </a:r>
            <a:r>
              <a:rPr b="1" lang="en-US" sz="1600">
                <a:solidFill>
                  <a:schemeClr val="dk1"/>
                </a:solidFill>
                <a:latin typeface="Calibri"/>
                <a:ea typeface="Calibri"/>
                <a:cs typeface="Calibri"/>
                <a:sym typeface="Calibri"/>
              </a:rPr>
              <a:t>multi-agent architecture</a:t>
            </a:r>
            <a:r>
              <a:rPr lang="en-US" sz="1600">
                <a:solidFill>
                  <a:schemeClr val="dk1"/>
                </a:solidFill>
                <a:latin typeface="Calibri"/>
                <a:ea typeface="Calibri"/>
                <a:cs typeface="Calibri"/>
                <a:sym typeface="Calibri"/>
              </a:rPr>
              <a:t> to simulate </a:t>
            </a:r>
            <a:r>
              <a:rPr b="1" lang="en-US" sz="1600">
                <a:solidFill>
                  <a:schemeClr val="dk1"/>
                </a:solidFill>
                <a:latin typeface="Calibri"/>
                <a:ea typeface="Calibri"/>
                <a:cs typeface="Calibri"/>
                <a:sym typeface="Calibri"/>
              </a:rPr>
              <a:t>different user personas</a:t>
            </a:r>
            <a:r>
              <a:rPr lang="en-US" sz="1600">
                <a:solidFill>
                  <a:schemeClr val="dk1"/>
                </a:solidFill>
                <a:latin typeface="Calibri"/>
                <a:ea typeface="Calibri"/>
                <a:cs typeface="Calibri"/>
                <a:sym typeface="Calibri"/>
              </a:rPr>
              <a:t> (color-blind, motor-impaired, visually impaired.)</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Fixes were not generic — they were:</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330200" lvl="1" marL="914400" rtl="0" algn="l">
              <a:lnSpc>
                <a:spcPct val="95000"/>
              </a:lnSpc>
              <a:spcBef>
                <a:spcPts val="0"/>
              </a:spcBef>
              <a:spcAft>
                <a:spcPts val="0"/>
              </a:spcAft>
              <a:buSzPts val="1600"/>
              <a:buChar char="○"/>
            </a:pPr>
            <a:r>
              <a:rPr lang="en-US" sz="1600">
                <a:latin typeface="Calibri"/>
                <a:ea typeface="Calibri"/>
                <a:cs typeface="Calibri"/>
                <a:sym typeface="Calibri"/>
              </a:rPr>
              <a:t>Specific to </a:t>
            </a:r>
            <a:r>
              <a:rPr b="1" lang="en-US" sz="1600">
                <a:latin typeface="Calibri"/>
                <a:ea typeface="Calibri"/>
                <a:cs typeface="Calibri"/>
                <a:sym typeface="Calibri"/>
              </a:rPr>
              <a:t>element-level</a:t>
            </a:r>
            <a:r>
              <a:rPr lang="en-US" sz="1600">
                <a:latin typeface="Calibri"/>
                <a:ea typeface="Calibri"/>
                <a:cs typeface="Calibri"/>
                <a:sym typeface="Calibri"/>
              </a:rPr>
              <a:t> issues</a:t>
            </a:r>
            <a:br>
              <a:rPr lang="en-US" sz="1600">
                <a:latin typeface="Calibri"/>
                <a:ea typeface="Calibri"/>
                <a:cs typeface="Calibri"/>
                <a:sym typeface="Calibri"/>
              </a:rPr>
            </a:br>
            <a:endParaRPr sz="1600">
              <a:latin typeface="Calibri"/>
              <a:ea typeface="Calibri"/>
              <a:cs typeface="Calibri"/>
              <a:sym typeface="Calibri"/>
            </a:endParaRPr>
          </a:p>
          <a:p>
            <a:pPr indent="-330200" lvl="1" marL="914400" rtl="0" algn="l">
              <a:lnSpc>
                <a:spcPct val="95000"/>
              </a:lnSpc>
              <a:spcBef>
                <a:spcPts val="0"/>
              </a:spcBef>
              <a:spcAft>
                <a:spcPts val="0"/>
              </a:spcAft>
              <a:buSzPts val="1600"/>
              <a:buChar char="○"/>
            </a:pPr>
            <a:r>
              <a:rPr lang="en-US" sz="1600">
                <a:latin typeface="Calibri"/>
                <a:ea typeface="Calibri"/>
                <a:cs typeface="Calibri"/>
                <a:sym typeface="Calibri"/>
              </a:rPr>
              <a:t>Explained using </a:t>
            </a:r>
            <a:r>
              <a:rPr b="1" lang="en-US" sz="1600">
                <a:latin typeface="Calibri"/>
                <a:ea typeface="Calibri"/>
                <a:cs typeface="Calibri"/>
                <a:sym typeface="Calibri"/>
              </a:rPr>
              <a:t>natural language</a:t>
            </a:r>
            <a:r>
              <a:rPr lang="en-US" sz="1600">
                <a:latin typeface="Calibri"/>
                <a:ea typeface="Calibri"/>
                <a:cs typeface="Calibri"/>
                <a:sym typeface="Calibri"/>
              </a:rPr>
              <a:t> to improve developer understanding</a:t>
            </a:r>
            <a:br>
              <a:rPr lang="en-US" sz="1600">
                <a:latin typeface="Calibri"/>
                <a:ea typeface="Calibri"/>
                <a:cs typeface="Calibri"/>
                <a:sym typeface="Calibri"/>
              </a:rPr>
            </a:br>
            <a:endParaRPr sz="1600">
              <a:latin typeface="Calibri"/>
              <a:ea typeface="Calibri"/>
              <a:cs typeface="Calibri"/>
              <a:sym typeface="Calibri"/>
            </a:endParaRPr>
          </a:p>
          <a:p>
            <a:pPr indent="0" lvl="0" marL="0" rtl="0" algn="l">
              <a:lnSpc>
                <a:spcPct val="70000"/>
              </a:lnSpc>
              <a:spcBef>
                <a:spcPts val="1200"/>
              </a:spcBef>
              <a:spcAft>
                <a:spcPts val="0"/>
              </a:spcAft>
              <a:buNone/>
            </a:pPr>
            <a:r>
              <a:t/>
            </a:r>
            <a:endParaRPr sz="2500">
              <a:latin typeface="Calibri"/>
              <a:ea typeface="Calibri"/>
              <a:cs typeface="Calibri"/>
              <a:sym typeface="Calibri"/>
            </a:endParaRPr>
          </a:p>
        </p:txBody>
      </p:sp>
      <p:sp>
        <p:nvSpPr>
          <p:cNvPr id="293" name="Google Shape;293;p3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8"/>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chemeClr val="dk1"/>
                </a:solidFill>
              </a:rPr>
              <a:t>RQ3: Are the AI-generated fixes perceived as useful and actionable by users?</a:t>
            </a:r>
            <a:endParaRPr>
              <a:solidFill>
                <a:schemeClr val="dk1"/>
              </a:solidFill>
            </a:endParaRPr>
          </a:p>
        </p:txBody>
      </p:sp>
      <p:sp>
        <p:nvSpPr>
          <p:cNvPr id="300" name="Google Shape;300;p38"/>
          <p:cNvSpPr txBox="1"/>
          <p:nvPr>
            <p:ph idx="1" type="body"/>
          </p:nvPr>
        </p:nvSpPr>
        <p:spPr>
          <a:xfrm>
            <a:off x="652463" y="1703624"/>
            <a:ext cx="10370100" cy="4120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How We Answered:</a:t>
            </a:r>
            <a:endParaRPr b="1" sz="1600">
              <a:solidFill>
                <a:schemeClr val="dk1"/>
              </a:solidFill>
              <a:latin typeface="Calibri"/>
              <a:ea typeface="Calibri"/>
              <a:cs typeface="Calibri"/>
              <a:sym typeface="Calibri"/>
            </a:endParaRPr>
          </a:p>
          <a:p>
            <a:pPr indent="-330200" lvl="0" marL="457200" rtl="0" algn="l">
              <a:lnSpc>
                <a:spcPct val="115000"/>
              </a:lnSpc>
              <a:spcBef>
                <a:spcPts val="1200"/>
              </a:spcBef>
              <a:spcAft>
                <a:spcPts val="0"/>
              </a:spcAft>
              <a:buClr>
                <a:schemeClr val="dk1"/>
              </a:buClr>
              <a:buSzPts val="1600"/>
              <a:buChar char="●"/>
            </a:pPr>
            <a:r>
              <a:rPr b="1" lang="en-US" sz="1600">
                <a:solidFill>
                  <a:schemeClr val="dk1"/>
                </a:solidFill>
                <a:latin typeface="Calibri"/>
                <a:ea typeface="Calibri"/>
                <a:cs typeface="Calibri"/>
                <a:sym typeface="Calibri"/>
              </a:rPr>
              <a:t>User-Centric Evaluation</a:t>
            </a:r>
            <a:r>
              <a:rPr lang="en-US"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a:p>
            <a:pPr indent="-330200" lvl="1" marL="914400" rtl="0" algn="l">
              <a:lnSpc>
                <a:spcPct val="115000"/>
              </a:lnSpc>
              <a:spcBef>
                <a:spcPts val="0"/>
              </a:spcBef>
              <a:spcAft>
                <a:spcPts val="0"/>
              </a:spcAft>
              <a:buSzPts val="1600"/>
              <a:buChar char="○"/>
            </a:pPr>
            <a:r>
              <a:rPr lang="en-US" sz="1600">
                <a:latin typeface="Calibri"/>
                <a:ea typeface="Calibri"/>
                <a:cs typeface="Calibri"/>
                <a:sym typeface="Calibri"/>
              </a:rPr>
              <a:t>After generating fixes, we conducted a </a:t>
            </a:r>
            <a:r>
              <a:rPr b="1" lang="en-US" sz="1600">
                <a:latin typeface="Calibri"/>
                <a:ea typeface="Calibri"/>
                <a:cs typeface="Calibri"/>
                <a:sym typeface="Calibri"/>
              </a:rPr>
              <a:t>user study</a:t>
            </a:r>
            <a:r>
              <a:rPr lang="en-US" sz="1600">
                <a:latin typeface="Calibri"/>
                <a:ea typeface="Calibri"/>
                <a:cs typeface="Calibri"/>
                <a:sym typeface="Calibri"/>
              </a:rPr>
              <a:t> where participants reviewed and rated each fix</a:t>
            </a:r>
            <a:endParaRPr sz="1600">
              <a:latin typeface="Calibri"/>
              <a:ea typeface="Calibri"/>
              <a:cs typeface="Calibri"/>
              <a:sym typeface="Calibri"/>
            </a:endParaRPr>
          </a:p>
          <a:p>
            <a:pPr indent="-330200" lvl="1" marL="914400" rtl="0" algn="l">
              <a:lnSpc>
                <a:spcPct val="115000"/>
              </a:lnSpc>
              <a:spcBef>
                <a:spcPts val="0"/>
              </a:spcBef>
              <a:spcAft>
                <a:spcPts val="0"/>
              </a:spcAft>
              <a:buSzPts val="1600"/>
              <a:buFont typeface="Calibri"/>
              <a:buChar char="○"/>
            </a:pPr>
            <a:r>
              <a:rPr lang="en-US" sz="1600">
                <a:latin typeface="Calibri"/>
                <a:ea typeface="Calibri"/>
                <a:cs typeface="Calibri"/>
                <a:sym typeface="Calibri"/>
              </a:rPr>
              <a:t>Users were shown the original UI snippet, the identified violation, and the agent-generated fix</a:t>
            </a:r>
            <a:br>
              <a:rPr lang="en-US" sz="1600">
                <a:latin typeface="Calibri"/>
                <a:ea typeface="Calibri"/>
                <a:cs typeface="Calibri"/>
                <a:sym typeface="Calibri"/>
              </a:rPr>
            </a:br>
            <a:endParaRPr sz="1600">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latin typeface="Calibri"/>
                <a:ea typeface="Calibri"/>
                <a:cs typeface="Calibri"/>
                <a:sym typeface="Calibri"/>
              </a:rPr>
              <a:t>Feedback Process</a:t>
            </a:r>
            <a:r>
              <a:rPr lang="en-US"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a:p>
            <a:pPr indent="-330200" lvl="1" marL="914400" rtl="0" algn="l">
              <a:lnSpc>
                <a:spcPct val="115000"/>
              </a:lnSpc>
              <a:spcBef>
                <a:spcPts val="0"/>
              </a:spcBef>
              <a:spcAft>
                <a:spcPts val="0"/>
              </a:spcAft>
              <a:buSzPts val="1600"/>
              <a:buFont typeface="Calibri"/>
              <a:buChar char="○"/>
            </a:pPr>
            <a:r>
              <a:rPr lang="en-US" sz="1600">
                <a:latin typeface="Calibri"/>
                <a:ea typeface="Calibri"/>
                <a:cs typeface="Calibri"/>
                <a:sym typeface="Calibri"/>
              </a:rPr>
              <a:t>Users rated each fix on key dimensions:</a:t>
            </a:r>
            <a:br>
              <a:rPr lang="en-US" sz="1600">
                <a:latin typeface="Calibri"/>
                <a:ea typeface="Calibri"/>
                <a:cs typeface="Calibri"/>
                <a:sym typeface="Calibri"/>
              </a:rPr>
            </a:br>
            <a:endParaRPr sz="1600">
              <a:latin typeface="Calibri"/>
              <a:ea typeface="Calibri"/>
              <a:cs typeface="Calibri"/>
              <a:sym typeface="Calibri"/>
            </a:endParaRPr>
          </a:p>
          <a:p>
            <a:pPr indent="-330200" lvl="2" marL="1371600" rtl="0" algn="l">
              <a:lnSpc>
                <a:spcPct val="100000"/>
              </a:lnSpc>
              <a:spcBef>
                <a:spcPts val="0"/>
              </a:spcBef>
              <a:spcAft>
                <a:spcPts val="0"/>
              </a:spcAft>
              <a:buSzPts val="1600"/>
              <a:buFont typeface="Calibri"/>
              <a:buChar char="■"/>
            </a:pPr>
            <a:r>
              <a:rPr b="1" lang="en-US" sz="1600">
                <a:latin typeface="Calibri"/>
                <a:ea typeface="Calibri"/>
                <a:cs typeface="Calibri"/>
                <a:sym typeface="Calibri"/>
              </a:rPr>
              <a:t>Usefulness</a:t>
            </a:r>
            <a:br>
              <a:rPr b="1" lang="en-US" sz="1600">
                <a:latin typeface="Calibri"/>
                <a:ea typeface="Calibri"/>
                <a:cs typeface="Calibri"/>
                <a:sym typeface="Calibri"/>
              </a:rPr>
            </a:br>
            <a:endParaRPr b="1" sz="1600">
              <a:latin typeface="Calibri"/>
              <a:ea typeface="Calibri"/>
              <a:cs typeface="Calibri"/>
              <a:sym typeface="Calibri"/>
            </a:endParaRPr>
          </a:p>
          <a:p>
            <a:pPr indent="-330200" lvl="2" marL="1371600" rtl="0" algn="l">
              <a:lnSpc>
                <a:spcPct val="100000"/>
              </a:lnSpc>
              <a:spcBef>
                <a:spcPts val="0"/>
              </a:spcBef>
              <a:spcAft>
                <a:spcPts val="0"/>
              </a:spcAft>
              <a:buSzPts val="1600"/>
              <a:buFont typeface="Calibri"/>
              <a:buChar char="■"/>
            </a:pPr>
            <a:r>
              <a:rPr b="1" lang="en-US" sz="1600">
                <a:latin typeface="Calibri"/>
                <a:ea typeface="Calibri"/>
                <a:cs typeface="Calibri"/>
                <a:sym typeface="Calibri"/>
              </a:rPr>
              <a:t>Clarity</a:t>
            </a:r>
            <a:br>
              <a:rPr b="1" lang="en-US" sz="1600">
                <a:latin typeface="Calibri"/>
                <a:ea typeface="Calibri"/>
                <a:cs typeface="Calibri"/>
                <a:sym typeface="Calibri"/>
              </a:rPr>
            </a:br>
            <a:endParaRPr b="1" sz="1600">
              <a:latin typeface="Calibri"/>
              <a:ea typeface="Calibri"/>
              <a:cs typeface="Calibri"/>
              <a:sym typeface="Calibri"/>
            </a:endParaRPr>
          </a:p>
          <a:p>
            <a:pPr indent="-330200" lvl="2" marL="1371600" rtl="0" algn="l">
              <a:lnSpc>
                <a:spcPct val="100000"/>
              </a:lnSpc>
              <a:spcBef>
                <a:spcPts val="0"/>
              </a:spcBef>
              <a:spcAft>
                <a:spcPts val="0"/>
              </a:spcAft>
              <a:buSzPts val="1600"/>
              <a:buFont typeface="Calibri"/>
              <a:buChar char="■"/>
            </a:pPr>
            <a:r>
              <a:rPr b="1" lang="en-US" sz="1600">
                <a:latin typeface="Calibri"/>
                <a:ea typeface="Calibri"/>
                <a:cs typeface="Calibri"/>
                <a:sym typeface="Calibri"/>
              </a:rPr>
              <a:t>Actionability</a:t>
            </a:r>
            <a:br>
              <a:rPr b="1" lang="en-US" sz="1600">
                <a:latin typeface="Calibri"/>
                <a:ea typeface="Calibri"/>
                <a:cs typeface="Calibri"/>
                <a:sym typeface="Calibri"/>
              </a:rPr>
            </a:br>
            <a:endParaRPr b="1" sz="1600">
              <a:latin typeface="Calibri"/>
              <a:ea typeface="Calibri"/>
              <a:cs typeface="Calibri"/>
              <a:sym typeface="Calibri"/>
            </a:endParaRPr>
          </a:p>
          <a:p>
            <a:pPr indent="-330200" lvl="1" marL="914400" rtl="0" algn="l">
              <a:lnSpc>
                <a:spcPct val="115000"/>
              </a:lnSpc>
              <a:spcBef>
                <a:spcPts val="0"/>
              </a:spcBef>
              <a:spcAft>
                <a:spcPts val="0"/>
              </a:spcAft>
              <a:buSzPts val="1600"/>
              <a:buChar char="○"/>
            </a:pPr>
            <a:r>
              <a:rPr lang="en-US" sz="1600">
                <a:latin typeface="Calibri"/>
                <a:ea typeface="Calibri"/>
                <a:cs typeface="Calibri"/>
                <a:sym typeface="Calibri"/>
              </a:rPr>
              <a:t>Collected </a:t>
            </a:r>
            <a:r>
              <a:rPr b="1" lang="en-US" sz="1600">
                <a:latin typeface="Calibri"/>
                <a:ea typeface="Calibri"/>
                <a:cs typeface="Calibri"/>
                <a:sym typeface="Calibri"/>
              </a:rPr>
              <a:t>quantitative scores</a:t>
            </a:r>
            <a:r>
              <a:rPr lang="en-US" sz="1600">
                <a:latin typeface="Calibri"/>
                <a:ea typeface="Calibri"/>
                <a:cs typeface="Calibri"/>
                <a:sym typeface="Calibri"/>
              </a:rPr>
              <a:t> of upvotes &amp; downvotes</a:t>
            </a:r>
            <a:endParaRPr sz="1600">
              <a:latin typeface="Calibri"/>
              <a:ea typeface="Calibri"/>
              <a:cs typeface="Calibri"/>
              <a:sym typeface="Calibri"/>
            </a:endParaRPr>
          </a:p>
          <a:p>
            <a:pPr indent="0" lvl="0" marL="0" rtl="0" algn="l">
              <a:spcBef>
                <a:spcPts val="1200"/>
              </a:spcBef>
              <a:spcAft>
                <a:spcPts val="0"/>
              </a:spcAft>
              <a:buNone/>
            </a:pPr>
            <a:r>
              <a:t/>
            </a:r>
            <a:endParaRPr b="1" sz="1600">
              <a:solidFill>
                <a:schemeClr val="dk1"/>
              </a:solidFill>
              <a:latin typeface="Calibri"/>
              <a:ea typeface="Calibri"/>
              <a:cs typeface="Calibri"/>
              <a:sym typeface="Calibri"/>
            </a:endParaRPr>
          </a:p>
        </p:txBody>
      </p:sp>
      <p:sp>
        <p:nvSpPr>
          <p:cNvPr id="301" name="Google Shape;301;p3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652475" y="0"/>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Model Workflow</a:t>
            </a:r>
            <a:endParaRPr u="sng">
              <a:solidFill>
                <a:schemeClr val="dk1"/>
              </a:solidFill>
            </a:endParaRPr>
          </a:p>
        </p:txBody>
      </p:sp>
      <p:sp>
        <p:nvSpPr>
          <p:cNvPr id="308" name="Google Shape;308;p3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09" name="Google Shape;309;p39"/>
          <p:cNvPicPr preferRelativeResize="0"/>
          <p:nvPr/>
        </p:nvPicPr>
        <p:blipFill>
          <a:blip r:embed="rId3">
            <a:alphaModFix/>
          </a:blip>
          <a:stretch>
            <a:fillRect/>
          </a:stretch>
        </p:blipFill>
        <p:spPr>
          <a:xfrm>
            <a:off x="2488100" y="953850"/>
            <a:ext cx="6698851" cy="510270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DEMO</a:t>
            </a:r>
            <a:endParaRPr u="sng">
              <a:solidFill>
                <a:schemeClr val="dk1"/>
              </a:solidFill>
            </a:endParaRPr>
          </a:p>
        </p:txBody>
      </p:sp>
      <p:sp>
        <p:nvSpPr>
          <p:cNvPr id="316" name="Google Shape;316;p40"/>
          <p:cNvSpPr txBox="1"/>
          <p:nvPr>
            <p:ph idx="2" type="body"/>
          </p:nvPr>
        </p:nvSpPr>
        <p:spPr>
          <a:xfrm>
            <a:off x="457200" y="6356350"/>
            <a:ext cx="8153400" cy="3651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None/>
            </a:pPr>
            <a:r>
              <a:t/>
            </a:r>
            <a:endParaRPr/>
          </a:p>
        </p:txBody>
      </p:sp>
      <p:sp>
        <p:nvSpPr>
          <p:cNvPr id="317" name="Google Shape;317;p4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18" name="Google Shape;318;p40" title="A11y Agent Lab · Streamlit - Google Chrome 2025-05-09 14-50-14.mp4">
            <a:hlinkClick r:id="rId3"/>
          </p:cNvPr>
          <p:cNvPicPr preferRelativeResize="0"/>
          <p:nvPr/>
        </p:nvPicPr>
        <p:blipFill>
          <a:blip r:embed="rId4">
            <a:alphaModFix/>
          </a:blip>
          <a:stretch>
            <a:fillRect/>
          </a:stretch>
        </p:blipFill>
        <p:spPr>
          <a:xfrm>
            <a:off x="3071913" y="1160925"/>
            <a:ext cx="6048167" cy="4536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Evaluation Study </a:t>
            </a:r>
            <a:endParaRPr u="sng">
              <a:solidFill>
                <a:schemeClr val="dk1"/>
              </a:solidFill>
            </a:endParaRPr>
          </a:p>
        </p:txBody>
      </p:sp>
      <p:sp>
        <p:nvSpPr>
          <p:cNvPr id="325" name="Google Shape;325;p4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26" name="Google Shape;326;p41"/>
          <p:cNvSpPr txBox="1"/>
          <p:nvPr/>
        </p:nvSpPr>
        <p:spPr>
          <a:xfrm>
            <a:off x="846900" y="1528624"/>
            <a:ext cx="10498200" cy="4464300"/>
          </a:xfrm>
          <a:prstGeom prst="rect">
            <a:avLst/>
          </a:prstGeom>
          <a:noFill/>
          <a:ln>
            <a:noFill/>
          </a:ln>
        </p:spPr>
        <p:txBody>
          <a:bodyPr anchorCtr="0" anchor="t" bIns="91425" lIns="91425" spcFirstLastPara="1" rIns="91425" wrap="square" tIns="91425">
            <a:noAutofit/>
          </a:bodyPr>
          <a:lstStyle/>
          <a:p>
            <a:pPr indent="-330200" lvl="0" marL="457200" rtl="0" algn="l">
              <a:lnSpc>
                <a:spcPct val="200000"/>
              </a:lnSpc>
              <a:spcBef>
                <a:spcPts val="1200"/>
              </a:spcBef>
              <a:spcAft>
                <a:spcPts val="0"/>
              </a:spcAft>
              <a:buClr>
                <a:schemeClr val="dk1"/>
              </a:buClr>
              <a:buSzPts val="1600"/>
              <a:buFont typeface="Calibri"/>
              <a:buChar char="●"/>
            </a:pPr>
            <a:r>
              <a:rPr b="1" lang="en-US" sz="1600">
                <a:solidFill>
                  <a:schemeClr val="dk1"/>
                </a:solidFill>
                <a:latin typeface="Calibri"/>
                <a:ea typeface="Calibri"/>
                <a:cs typeface="Calibri"/>
                <a:sym typeface="Calibri"/>
              </a:rPr>
              <a:t>Feedback Platform:</a:t>
            </a:r>
            <a:r>
              <a:rPr lang="en-US" sz="1600">
                <a:solidFill>
                  <a:schemeClr val="dk1"/>
                </a:solidFill>
                <a:latin typeface="Calibri"/>
                <a:ea typeface="Calibri"/>
                <a:cs typeface="Calibri"/>
                <a:sym typeface="Calibri"/>
              </a:rPr>
              <a:t> </a:t>
            </a:r>
            <a:r>
              <a:rPr lang="en-US" sz="1600" u="sng">
                <a:solidFill>
                  <a:schemeClr val="hlink"/>
                </a:solidFill>
                <a:latin typeface="Calibri"/>
                <a:ea typeface="Calibri"/>
                <a:cs typeface="Calibri"/>
                <a:sym typeface="Calibri"/>
                <a:hlinkClick r:id="rId3"/>
              </a:rPr>
              <a:t>https://ai-assistant-for-accessibility.streamlit.app/</a:t>
            </a:r>
            <a:r>
              <a:rPr lang="en-US" sz="16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b="1" lang="en-US" sz="1600">
                <a:solidFill>
                  <a:schemeClr val="dk1"/>
                </a:solidFill>
                <a:latin typeface="Calibri"/>
                <a:ea typeface="Calibri"/>
                <a:cs typeface="Calibri"/>
                <a:sym typeface="Calibri"/>
              </a:rPr>
              <a:t>Scope of Study:</a:t>
            </a:r>
            <a:endParaRPr b="1" sz="1600">
              <a:solidFill>
                <a:schemeClr val="dk1"/>
              </a:solidFill>
              <a:latin typeface="Calibri"/>
              <a:ea typeface="Calibri"/>
              <a:cs typeface="Calibri"/>
              <a:sym typeface="Calibri"/>
            </a:endParaRPr>
          </a:p>
          <a:p>
            <a:pPr indent="-330200" lvl="1" marL="914400" rtl="0" algn="l">
              <a:lnSpc>
                <a:spcPct val="115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11 real-world websites evaluated</a:t>
            </a:r>
            <a:endParaRPr sz="1600">
              <a:solidFill>
                <a:schemeClr val="dk1"/>
              </a:solidFill>
              <a:latin typeface="Calibri"/>
              <a:ea typeface="Calibri"/>
              <a:cs typeface="Calibri"/>
              <a:sym typeface="Calibri"/>
            </a:endParaRPr>
          </a:p>
          <a:p>
            <a:pPr indent="-330200" lvl="1" marL="914400" rtl="0" algn="l">
              <a:lnSpc>
                <a:spcPct val="115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 4 accessibility issues and proposed fixes per site</a:t>
            </a:r>
            <a:endParaRPr sz="1600">
              <a:solidFill>
                <a:schemeClr val="dk1"/>
              </a:solidFill>
              <a:latin typeface="Calibri"/>
              <a:ea typeface="Calibri"/>
              <a:cs typeface="Calibri"/>
              <a:sym typeface="Calibri"/>
            </a:endParaRPr>
          </a:p>
          <a:p>
            <a:pPr indent="-330200" lvl="1" marL="914400" rtl="0" algn="l">
              <a:lnSpc>
                <a:spcPct val="200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14 unique violation categories tested</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b="1" lang="en-US" sz="1600">
                <a:solidFill>
                  <a:schemeClr val="dk1"/>
                </a:solidFill>
                <a:latin typeface="Calibri"/>
                <a:ea typeface="Calibri"/>
                <a:cs typeface="Calibri"/>
                <a:sym typeface="Calibri"/>
              </a:rPr>
              <a:t>Participant Insights:</a:t>
            </a:r>
            <a:endParaRPr b="1" sz="1600">
              <a:solidFill>
                <a:schemeClr val="dk1"/>
              </a:solidFill>
              <a:latin typeface="Calibri"/>
              <a:ea typeface="Calibri"/>
              <a:cs typeface="Calibri"/>
              <a:sym typeface="Calibri"/>
            </a:endParaRPr>
          </a:p>
          <a:p>
            <a:pPr indent="-330200" lvl="1" marL="914400" rtl="0" algn="l">
              <a:lnSpc>
                <a:spcPct val="115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~13 reviewers per website (total estimated reviewers: 142)</a:t>
            </a:r>
            <a:endParaRPr sz="1600">
              <a:solidFill>
                <a:schemeClr val="dk1"/>
              </a:solidFill>
              <a:latin typeface="Calibri"/>
              <a:ea typeface="Calibri"/>
              <a:cs typeface="Calibri"/>
              <a:sym typeface="Calibri"/>
            </a:endParaRPr>
          </a:p>
          <a:p>
            <a:pPr indent="-330200" lvl="1" marL="914400" rtl="0" algn="l">
              <a:lnSpc>
                <a:spcPct val="115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548 total votes submitted (upvotes + downvotes)</a:t>
            </a:r>
            <a:endParaRPr sz="1600">
              <a:solidFill>
                <a:schemeClr val="dk1"/>
              </a:solidFill>
              <a:latin typeface="Calibri"/>
              <a:ea typeface="Calibri"/>
              <a:cs typeface="Calibri"/>
              <a:sym typeface="Calibri"/>
            </a:endParaRPr>
          </a:p>
          <a:p>
            <a:pPr indent="-330200" lvl="1" marL="914400" rtl="0" algn="l">
              <a:lnSpc>
                <a:spcPct val="200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Average reviewer agreement with fixes: </a:t>
            </a:r>
            <a:r>
              <a:rPr b="1" lang="en-US" sz="1600">
                <a:solidFill>
                  <a:schemeClr val="dk1"/>
                </a:solidFill>
                <a:latin typeface="Calibri"/>
                <a:ea typeface="Calibri"/>
                <a:cs typeface="Calibri"/>
                <a:sym typeface="Calibri"/>
              </a:rPr>
              <a:t>84.07%</a:t>
            </a:r>
            <a:endParaRPr b="1" sz="1600">
              <a:solidFill>
                <a:schemeClr val="dk1"/>
              </a:solidFill>
              <a:latin typeface="Calibri"/>
              <a:ea typeface="Calibri"/>
              <a:cs typeface="Calibri"/>
              <a:sym typeface="Calibri"/>
            </a:endParaRPr>
          </a:p>
          <a:p>
            <a:pPr indent="-330200" lvl="0" marL="457200" rtl="0" algn="l">
              <a:lnSpc>
                <a:spcPct val="200000"/>
              </a:lnSpc>
              <a:spcBef>
                <a:spcPts val="0"/>
              </a:spcBef>
              <a:spcAft>
                <a:spcPts val="0"/>
              </a:spcAft>
              <a:buClr>
                <a:schemeClr val="dk1"/>
              </a:buClr>
              <a:buSzPts val="1600"/>
              <a:buFont typeface="Calibri"/>
              <a:buChar char="●"/>
            </a:pPr>
            <a:r>
              <a:rPr b="1" lang="en-US" sz="1600">
                <a:solidFill>
                  <a:schemeClr val="dk1"/>
                </a:solidFill>
                <a:latin typeface="Calibri"/>
                <a:ea typeface="Calibri"/>
                <a:cs typeface="Calibri"/>
                <a:sym typeface="Calibri"/>
              </a:rPr>
              <a:t>Link to Results</a:t>
            </a:r>
            <a:r>
              <a:rPr b="1" lang="en-US" sz="1600">
                <a:solidFill>
                  <a:schemeClr val="dk1"/>
                </a:solidFill>
                <a:latin typeface="Calibri"/>
                <a:ea typeface="Calibri"/>
                <a:cs typeface="Calibri"/>
                <a:sym typeface="Calibri"/>
              </a:rPr>
              <a:t>: </a:t>
            </a:r>
            <a:r>
              <a:rPr lang="en-US" sz="1600" u="sng">
                <a:solidFill>
                  <a:schemeClr val="hlink"/>
                </a:solidFill>
                <a:latin typeface="Calibri"/>
                <a:ea typeface="Calibri"/>
                <a:cs typeface="Calibri"/>
                <a:sym typeface="Calibri"/>
                <a:hlinkClick r:id="rId4"/>
              </a:rPr>
              <a:t>https://docs.google.com/spreadsheets/d/1lijyxpdbrLFmPJQO8CTqlZzZaQ-6Rpa4TXA4SE7eWbQ/edit?usp=sharing</a:t>
            </a:r>
            <a:endParaRPr sz="16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2"/>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Evaluation Results</a:t>
            </a:r>
            <a:endParaRPr u="sng">
              <a:solidFill>
                <a:schemeClr val="dk1"/>
              </a:solidFill>
            </a:endParaRPr>
          </a:p>
        </p:txBody>
      </p:sp>
      <p:sp>
        <p:nvSpPr>
          <p:cNvPr id="333" name="Google Shape;333;p4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34" name="Google Shape;334;p42"/>
          <p:cNvSpPr txBox="1"/>
          <p:nvPr/>
        </p:nvSpPr>
        <p:spPr>
          <a:xfrm>
            <a:off x="846900" y="1245975"/>
            <a:ext cx="10498200" cy="4909800"/>
          </a:xfrm>
          <a:prstGeom prst="rect">
            <a:avLst/>
          </a:prstGeom>
          <a:noFill/>
          <a:ln>
            <a:noFill/>
          </a:ln>
        </p:spPr>
        <p:txBody>
          <a:bodyPr anchorCtr="0" anchor="t" bIns="91425" lIns="91425" spcFirstLastPara="1" rIns="91425" wrap="square" tIns="91425">
            <a:noAutofit/>
          </a:bodyPr>
          <a:lstStyle/>
          <a:p>
            <a:pPr indent="0" lvl="0" marL="342900" rtl="0" algn="l">
              <a:lnSpc>
                <a:spcPct val="100000"/>
              </a:lnSpc>
              <a:spcBef>
                <a:spcPts val="1400"/>
              </a:spcBef>
              <a:spcAft>
                <a:spcPts val="0"/>
              </a:spcAft>
              <a:buNone/>
            </a:pPr>
            <a:r>
              <a:rPr b="1" lang="en-US">
                <a:solidFill>
                  <a:schemeClr val="dk1"/>
                </a:solidFill>
                <a:latin typeface="Calibri"/>
                <a:ea typeface="Calibri"/>
                <a:cs typeface="Calibri"/>
                <a:sym typeface="Calibri"/>
              </a:rPr>
              <a:t>Flaws our agents already handle extremely well (&gt;90 % reviewer agreement &amp; ≥0.9 up-vote ratio)</a:t>
            </a:r>
            <a:endParaRPr b="1">
              <a:solidFill>
                <a:schemeClr val="dk1"/>
              </a:solidFill>
              <a:latin typeface="Calibri"/>
              <a:ea typeface="Calibri"/>
              <a:cs typeface="Calibri"/>
              <a:sym typeface="Calibri"/>
            </a:endParaRPr>
          </a:p>
          <a:p>
            <a:pPr indent="-317500" lvl="0" marL="914400" rtl="0" algn="l">
              <a:lnSpc>
                <a:spcPct val="100000"/>
              </a:lnSpc>
              <a:spcBef>
                <a:spcPts val="400"/>
              </a:spcBef>
              <a:spcAft>
                <a:spcPts val="0"/>
              </a:spcAft>
              <a:buClr>
                <a:schemeClr val="dk1"/>
              </a:buClr>
              <a:buSzPts val="1400"/>
              <a:buChar char="●"/>
            </a:pPr>
            <a:r>
              <a:rPr b="1" lang="en-US">
                <a:solidFill>
                  <a:schemeClr val="dk1"/>
                </a:solidFill>
                <a:latin typeface="Calibri"/>
                <a:ea typeface="Calibri"/>
                <a:cs typeface="Calibri"/>
                <a:sym typeface="Calibri"/>
              </a:rPr>
              <a:t>Landmark – missing </a:t>
            </a:r>
            <a:r>
              <a:rPr b="1" lang="en-US">
                <a:solidFill>
                  <a:srgbClr val="188038"/>
                </a:solidFill>
                <a:latin typeface="Calibri"/>
                <a:ea typeface="Calibri"/>
                <a:cs typeface="Calibri"/>
                <a:sym typeface="Calibri"/>
              </a:rPr>
              <a:t>&lt;main&gt;</a:t>
            </a:r>
            <a:endParaRPr b="1">
              <a:solidFill>
                <a:srgbClr val="188038"/>
              </a:solidFill>
              <a:latin typeface="Calibri"/>
              <a:ea typeface="Calibri"/>
              <a:cs typeface="Calibri"/>
              <a:sym typeface="Calibri"/>
            </a:endParaRPr>
          </a:p>
          <a:p>
            <a:pPr indent="-317500" lvl="0" marL="914400" rtl="0" algn="l">
              <a:lnSpc>
                <a:spcPct val="100000"/>
              </a:lnSpc>
              <a:spcBef>
                <a:spcPts val="0"/>
              </a:spcBef>
              <a:spcAft>
                <a:spcPts val="0"/>
              </a:spcAft>
              <a:buClr>
                <a:schemeClr val="dk1"/>
              </a:buClr>
              <a:buSzPts val="1400"/>
              <a:buFont typeface="Calibri"/>
              <a:buChar char="●"/>
            </a:pPr>
            <a:r>
              <a:rPr b="1" lang="en-US">
                <a:solidFill>
                  <a:schemeClr val="dk1"/>
                </a:solidFill>
                <a:latin typeface="Calibri"/>
                <a:ea typeface="Calibri"/>
                <a:cs typeface="Calibri"/>
                <a:sym typeface="Calibri"/>
              </a:rPr>
              <a:t>Links – non-discernible text</a:t>
            </a:r>
            <a:endParaRPr b="1">
              <a:solidFill>
                <a:schemeClr val="dk1"/>
              </a:solidFill>
              <a:latin typeface="Calibri"/>
              <a:ea typeface="Calibri"/>
              <a:cs typeface="Calibri"/>
              <a:sym typeface="Calibri"/>
            </a:endParaRPr>
          </a:p>
          <a:p>
            <a:pPr indent="-317500" lvl="0" marL="914400" rtl="0" algn="l">
              <a:lnSpc>
                <a:spcPct val="100000"/>
              </a:lnSpc>
              <a:spcBef>
                <a:spcPts val="0"/>
              </a:spcBef>
              <a:spcAft>
                <a:spcPts val="0"/>
              </a:spcAft>
              <a:buClr>
                <a:schemeClr val="dk1"/>
              </a:buClr>
              <a:buSzPts val="1400"/>
              <a:buFont typeface="Calibri"/>
              <a:buChar char="●"/>
            </a:pPr>
            <a:r>
              <a:rPr b="1" lang="en-US">
                <a:solidFill>
                  <a:schemeClr val="dk1"/>
                </a:solidFill>
                <a:latin typeface="Calibri"/>
                <a:ea typeface="Calibri"/>
                <a:cs typeface="Calibri"/>
                <a:sym typeface="Calibri"/>
              </a:rPr>
              <a:t>Links – non-discernible style</a:t>
            </a:r>
            <a:endParaRPr b="1">
              <a:solidFill>
                <a:schemeClr val="dk1"/>
              </a:solidFill>
              <a:latin typeface="Calibri"/>
              <a:ea typeface="Calibri"/>
              <a:cs typeface="Calibri"/>
              <a:sym typeface="Calibri"/>
            </a:endParaRPr>
          </a:p>
          <a:p>
            <a:pPr indent="-317500" lvl="0" marL="914400" rtl="0" algn="l">
              <a:lnSpc>
                <a:spcPct val="100000"/>
              </a:lnSpc>
              <a:spcBef>
                <a:spcPts val="0"/>
              </a:spcBef>
              <a:spcAft>
                <a:spcPts val="0"/>
              </a:spcAft>
              <a:buClr>
                <a:schemeClr val="dk1"/>
              </a:buClr>
              <a:buSzPts val="1400"/>
              <a:buFont typeface="Calibri"/>
              <a:buChar char="●"/>
            </a:pPr>
            <a:r>
              <a:rPr b="1" lang="en-US">
                <a:solidFill>
                  <a:schemeClr val="dk1"/>
                </a:solidFill>
                <a:latin typeface="Calibri"/>
                <a:ea typeface="Calibri"/>
                <a:cs typeface="Calibri"/>
                <a:sym typeface="Calibri"/>
              </a:rPr>
              <a:t>Alt-text – inaccurate</a:t>
            </a:r>
            <a:endParaRPr b="1">
              <a:solidFill>
                <a:schemeClr val="dk1"/>
              </a:solidFill>
              <a:latin typeface="Calibri"/>
              <a:ea typeface="Calibri"/>
              <a:cs typeface="Calibri"/>
              <a:sym typeface="Calibri"/>
            </a:endParaRPr>
          </a:p>
          <a:p>
            <a:pPr indent="-317500" lvl="0" marL="914400" rtl="0" algn="l">
              <a:lnSpc>
                <a:spcPct val="100000"/>
              </a:lnSpc>
              <a:spcBef>
                <a:spcPts val="0"/>
              </a:spcBef>
              <a:spcAft>
                <a:spcPts val="0"/>
              </a:spcAft>
              <a:buClr>
                <a:schemeClr val="dk1"/>
              </a:buClr>
              <a:buSzPts val="1400"/>
              <a:buChar char="●"/>
            </a:pPr>
            <a:r>
              <a:rPr b="1" lang="en-US">
                <a:solidFill>
                  <a:srgbClr val="188038"/>
                </a:solidFill>
                <a:latin typeface="Calibri"/>
                <a:ea typeface="Calibri"/>
                <a:cs typeface="Calibri"/>
                <a:sym typeface="Calibri"/>
              </a:rPr>
              <a:t>&lt;html lang&gt;</a:t>
            </a:r>
            <a:r>
              <a:rPr b="1" lang="en-US">
                <a:solidFill>
                  <a:schemeClr val="dk1"/>
                </a:solidFill>
                <a:latin typeface="Calibri"/>
                <a:ea typeface="Calibri"/>
                <a:cs typeface="Calibri"/>
                <a:sym typeface="Calibri"/>
              </a:rPr>
              <a:t> missing</a:t>
            </a:r>
            <a:endParaRPr b="1">
              <a:solidFill>
                <a:schemeClr val="dk1"/>
              </a:solidFill>
              <a:latin typeface="Calibri"/>
              <a:ea typeface="Calibri"/>
              <a:cs typeface="Calibri"/>
              <a:sym typeface="Calibri"/>
            </a:endParaRPr>
          </a:p>
          <a:p>
            <a:pPr indent="0" lvl="0" marL="342900" rtl="0" algn="l">
              <a:lnSpc>
                <a:spcPct val="100000"/>
              </a:lnSpc>
              <a:spcBef>
                <a:spcPts val="1400"/>
              </a:spcBef>
              <a:spcAft>
                <a:spcPts val="0"/>
              </a:spcAft>
              <a:buNone/>
            </a:pPr>
            <a:r>
              <a:rPr b="1" lang="en-US">
                <a:solidFill>
                  <a:schemeClr val="dk1"/>
                </a:solidFill>
                <a:latin typeface="Calibri"/>
                <a:ea typeface="Calibri"/>
                <a:cs typeface="Calibri"/>
                <a:sym typeface="Calibri"/>
              </a:rPr>
              <a:t>Flaws that still need human review (&lt;80 % agreement or many down-votes)</a:t>
            </a:r>
            <a:endParaRPr b="1">
              <a:solidFill>
                <a:schemeClr val="dk1"/>
              </a:solidFill>
              <a:latin typeface="Calibri"/>
              <a:ea typeface="Calibri"/>
              <a:cs typeface="Calibri"/>
              <a:sym typeface="Calibri"/>
            </a:endParaRPr>
          </a:p>
          <a:p>
            <a:pPr indent="-317500" lvl="1" marL="914400" rtl="0" algn="l">
              <a:lnSpc>
                <a:spcPct val="100000"/>
              </a:lnSpc>
              <a:spcBef>
                <a:spcPts val="400"/>
              </a:spcBef>
              <a:spcAft>
                <a:spcPts val="0"/>
              </a:spcAft>
              <a:buClr>
                <a:schemeClr val="dk1"/>
              </a:buClr>
              <a:buSzPts val="1400"/>
              <a:buChar char="●"/>
            </a:pPr>
            <a:r>
              <a:rPr b="1" lang="en-US">
                <a:solidFill>
                  <a:schemeClr val="dk1"/>
                </a:solidFill>
                <a:latin typeface="Calibri"/>
                <a:ea typeface="Calibri"/>
                <a:cs typeface="Calibri"/>
                <a:sym typeface="Calibri"/>
              </a:rPr>
              <a:t>Missing </a:t>
            </a:r>
            <a:r>
              <a:rPr b="1" lang="en-US">
                <a:solidFill>
                  <a:srgbClr val="188038"/>
                </a:solidFill>
                <a:latin typeface="Calibri"/>
                <a:ea typeface="Calibri"/>
                <a:cs typeface="Calibri"/>
                <a:sym typeface="Calibri"/>
              </a:rPr>
              <a:t>&lt;title&gt;</a:t>
            </a:r>
            <a:r>
              <a:rPr b="1" lang="en-US">
                <a:solidFill>
                  <a:schemeClr val="dk1"/>
                </a:solidFill>
                <a:latin typeface="Calibri"/>
                <a:ea typeface="Calibri"/>
                <a:cs typeface="Calibri"/>
                <a:sym typeface="Calibri"/>
              </a:rPr>
              <a:t> element</a:t>
            </a:r>
            <a:endParaRPr b="1">
              <a:solidFill>
                <a:schemeClr val="dk1"/>
              </a:solidFill>
              <a:latin typeface="Calibri"/>
              <a:ea typeface="Calibri"/>
              <a:cs typeface="Calibri"/>
              <a:sym typeface="Calibri"/>
            </a:endParaRPr>
          </a:p>
          <a:p>
            <a:pPr indent="-317500" lvl="1" marL="914400" rtl="0" algn="l">
              <a:lnSpc>
                <a:spcPct val="100000"/>
              </a:lnSpc>
              <a:spcBef>
                <a:spcPts val="0"/>
              </a:spcBef>
              <a:spcAft>
                <a:spcPts val="0"/>
              </a:spcAft>
              <a:buClr>
                <a:schemeClr val="dk1"/>
              </a:buClr>
              <a:buSzPts val="1400"/>
              <a:buChar char="●"/>
            </a:pPr>
            <a:r>
              <a:rPr b="1" lang="en-US">
                <a:solidFill>
                  <a:schemeClr val="dk1"/>
                </a:solidFill>
                <a:latin typeface="Calibri"/>
                <a:ea typeface="Calibri"/>
                <a:cs typeface="Calibri"/>
                <a:sym typeface="Calibri"/>
              </a:rPr>
              <a:t>High positive </a:t>
            </a:r>
            <a:r>
              <a:rPr b="1" lang="en-US">
                <a:solidFill>
                  <a:srgbClr val="188038"/>
                </a:solidFill>
                <a:latin typeface="Calibri"/>
                <a:ea typeface="Calibri"/>
                <a:cs typeface="Calibri"/>
                <a:sym typeface="Calibri"/>
              </a:rPr>
              <a:t>tabindex</a:t>
            </a:r>
            <a:endParaRPr b="1">
              <a:solidFill>
                <a:srgbClr val="188038"/>
              </a:solidFill>
              <a:latin typeface="Calibri"/>
              <a:ea typeface="Calibri"/>
              <a:cs typeface="Calibri"/>
              <a:sym typeface="Calibri"/>
            </a:endParaRPr>
          </a:p>
          <a:p>
            <a:pPr indent="-317500" lvl="1" marL="914400" rtl="0" algn="l">
              <a:lnSpc>
                <a:spcPct val="100000"/>
              </a:lnSpc>
              <a:spcBef>
                <a:spcPts val="0"/>
              </a:spcBef>
              <a:spcAft>
                <a:spcPts val="0"/>
              </a:spcAft>
              <a:buClr>
                <a:schemeClr val="dk1"/>
              </a:buClr>
              <a:buSzPts val="1400"/>
              <a:buFont typeface="Calibri"/>
              <a:buChar char="●"/>
            </a:pPr>
            <a:r>
              <a:rPr b="1" lang="en-US">
                <a:solidFill>
                  <a:schemeClr val="dk1"/>
                </a:solidFill>
                <a:latin typeface="Calibri"/>
                <a:ea typeface="Calibri"/>
                <a:cs typeface="Calibri"/>
                <a:sym typeface="Calibri"/>
              </a:rPr>
              <a:t>Heading hierarchy (H1 missing / level skips)</a:t>
            </a:r>
            <a:endParaRPr b="1">
              <a:solidFill>
                <a:schemeClr val="dk1"/>
              </a:solidFill>
              <a:latin typeface="Calibri"/>
              <a:ea typeface="Calibri"/>
              <a:cs typeface="Calibri"/>
              <a:sym typeface="Calibri"/>
            </a:endParaRPr>
          </a:p>
          <a:p>
            <a:pPr indent="0" lvl="0" marL="342900" rtl="0" algn="l">
              <a:lnSpc>
                <a:spcPct val="100000"/>
              </a:lnSpc>
              <a:spcBef>
                <a:spcPts val="1400"/>
              </a:spcBef>
              <a:spcAft>
                <a:spcPts val="0"/>
              </a:spcAft>
              <a:buClr>
                <a:schemeClr val="dk1"/>
              </a:buClr>
              <a:buSzPts val="1100"/>
              <a:buFont typeface="Arial"/>
              <a:buNone/>
            </a:pPr>
            <a:r>
              <a:rPr b="1" lang="en-US">
                <a:solidFill>
                  <a:schemeClr val="dk1"/>
                </a:solidFill>
                <a:latin typeface="Calibri"/>
                <a:ea typeface="Calibri"/>
                <a:cs typeface="Calibri"/>
                <a:sym typeface="Calibri"/>
              </a:rPr>
              <a:t>Inter-dependent fix clusters</a:t>
            </a:r>
            <a:endParaRPr b="1">
              <a:solidFill>
                <a:schemeClr val="dk1"/>
              </a:solidFill>
              <a:latin typeface="Calibri"/>
              <a:ea typeface="Calibri"/>
              <a:cs typeface="Calibri"/>
              <a:sym typeface="Calibri"/>
            </a:endParaRPr>
          </a:p>
          <a:p>
            <a:pPr indent="-317500" lvl="0" marL="914400" rtl="0" algn="l">
              <a:lnSpc>
                <a:spcPct val="100000"/>
              </a:lnSpc>
              <a:spcBef>
                <a:spcPts val="400"/>
              </a:spcBef>
              <a:spcAft>
                <a:spcPts val="0"/>
              </a:spcAft>
              <a:buSzPts val="1400"/>
              <a:buChar char="●"/>
            </a:pPr>
            <a:r>
              <a:rPr b="1" lang="en-US">
                <a:latin typeface="Calibri"/>
                <a:ea typeface="Calibri"/>
                <a:cs typeface="Calibri"/>
                <a:sym typeface="Calibri"/>
              </a:rPr>
              <a:t>Alt-text quality</a:t>
            </a:r>
            <a:r>
              <a:rPr lang="en-US">
                <a:latin typeface="Calibri"/>
                <a:ea typeface="Calibri"/>
                <a:cs typeface="Calibri"/>
                <a:sym typeface="Calibri"/>
              </a:rPr>
              <a:t> - </a:t>
            </a:r>
            <a:r>
              <a:rPr i="1" lang="en-US">
                <a:latin typeface="Calibri"/>
                <a:ea typeface="Calibri"/>
                <a:cs typeface="Calibri"/>
                <a:sym typeface="Calibri"/>
              </a:rPr>
              <a:t>Missing alt</a:t>
            </a:r>
            <a:r>
              <a:rPr lang="en-US">
                <a:latin typeface="Calibri"/>
                <a:ea typeface="Calibri"/>
                <a:cs typeface="Calibri"/>
                <a:sym typeface="Calibri"/>
              </a:rPr>
              <a:t> ⇄ </a:t>
            </a:r>
            <a:r>
              <a:rPr i="1" lang="en-US">
                <a:latin typeface="Calibri"/>
                <a:ea typeface="Calibri"/>
                <a:cs typeface="Calibri"/>
                <a:sym typeface="Calibri"/>
              </a:rPr>
              <a:t>Inaccurate alt</a:t>
            </a:r>
            <a:endParaRPr>
              <a:latin typeface="Calibri"/>
              <a:ea typeface="Calibri"/>
              <a:cs typeface="Calibri"/>
              <a:sym typeface="Calibri"/>
            </a:endParaRPr>
          </a:p>
          <a:p>
            <a:pPr indent="-317500" lvl="0" marL="914400" rtl="0" algn="l">
              <a:lnSpc>
                <a:spcPct val="100000"/>
              </a:lnSpc>
              <a:spcBef>
                <a:spcPts val="0"/>
              </a:spcBef>
              <a:spcAft>
                <a:spcPts val="0"/>
              </a:spcAft>
              <a:buSzPts val="1400"/>
              <a:buChar char="●"/>
            </a:pPr>
            <a:r>
              <a:rPr b="1" lang="en-US">
                <a:latin typeface="Calibri"/>
                <a:ea typeface="Calibri"/>
                <a:cs typeface="Calibri"/>
                <a:sym typeface="Calibri"/>
              </a:rPr>
              <a:t>Landmarks</a:t>
            </a:r>
            <a:r>
              <a:rPr lang="en-US">
                <a:latin typeface="Calibri"/>
                <a:ea typeface="Calibri"/>
                <a:cs typeface="Calibri"/>
                <a:sym typeface="Calibri"/>
              </a:rPr>
              <a:t> - </a:t>
            </a:r>
            <a:r>
              <a:rPr i="1" lang="en-US">
                <a:latin typeface="Calibri"/>
                <a:ea typeface="Calibri"/>
                <a:cs typeface="Calibri"/>
                <a:sym typeface="Calibri"/>
              </a:rPr>
              <a:t>Missing </a:t>
            </a:r>
            <a:r>
              <a:rPr i="1" lang="en-US">
                <a:solidFill>
                  <a:srgbClr val="188038"/>
                </a:solidFill>
                <a:latin typeface="Calibri"/>
                <a:ea typeface="Calibri"/>
                <a:cs typeface="Calibri"/>
                <a:sym typeface="Calibri"/>
              </a:rPr>
              <a:t>&lt;main&gt;</a:t>
            </a:r>
            <a:r>
              <a:rPr lang="en-US">
                <a:latin typeface="Calibri"/>
                <a:ea typeface="Calibri"/>
                <a:cs typeface="Calibri"/>
                <a:sym typeface="Calibri"/>
              </a:rPr>
              <a:t> ⇄ </a:t>
            </a:r>
            <a:r>
              <a:rPr i="1" lang="en-US">
                <a:latin typeface="Calibri"/>
                <a:ea typeface="Calibri"/>
                <a:cs typeface="Calibri"/>
                <a:sym typeface="Calibri"/>
              </a:rPr>
              <a:t>Content outside landmarks</a:t>
            </a:r>
            <a:r>
              <a:rPr lang="en-US">
                <a:latin typeface="Calibri"/>
                <a:ea typeface="Calibri"/>
                <a:cs typeface="Calibri"/>
                <a:sym typeface="Calibri"/>
              </a:rPr>
              <a:t> ⇄ </a:t>
            </a:r>
            <a:r>
              <a:rPr i="1" lang="en-US">
                <a:latin typeface="Calibri"/>
                <a:ea typeface="Calibri"/>
                <a:cs typeface="Calibri"/>
                <a:sym typeface="Calibri"/>
              </a:rPr>
              <a:t>Duplicate landmarks</a:t>
            </a:r>
            <a:endParaRPr>
              <a:latin typeface="Calibri"/>
              <a:ea typeface="Calibri"/>
              <a:cs typeface="Calibri"/>
              <a:sym typeface="Calibri"/>
            </a:endParaRPr>
          </a:p>
          <a:p>
            <a:pPr indent="-317500" lvl="0" marL="914400" rtl="0" algn="l">
              <a:lnSpc>
                <a:spcPct val="100000"/>
              </a:lnSpc>
              <a:spcBef>
                <a:spcPts val="0"/>
              </a:spcBef>
              <a:spcAft>
                <a:spcPts val="0"/>
              </a:spcAft>
              <a:buSzPts val="1400"/>
              <a:buChar char="●"/>
            </a:pPr>
            <a:r>
              <a:rPr b="1" lang="en-US">
                <a:latin typeface="Calibri"/>
                <a:ea typeface="Calibri"/>
                <a:cs typeface="Calibri"/>
                <a:sym typeface="Calibri"/>
              </a:rPr>
              <a:t>Headings</a:t>
            </a:r>
            <a:r>
              <a:rPr lang="en-US">
                <a:latin typeface="Calibri"/>
                <a:ea typeface="Calibri"/>
                <a:cs typeface="Calibri"/>
                <a:sym typeface="Calibri"/>
              </a:rPr>
              <a:t> - </a:t>
            </a:r>
            <a:r>
              <a:rPr i="1" lang="en-US">
                <a:latin typeface="Calibri"/>
                <a:ea typeface="Calibri"/>
                <a:cs typeface="Calibri"/>
                <a:sym typeface="Calibri"/>
              </a:rPr>
              <a:t>H1 missing</a:t>
            </a:r>
            <a:r>
              <a:rPr lang="en-US">
                <a:latin typeface="Calibri"/>
                <a:ea typeface="Calibri"/>
                <a:cs typeface="Calibri"/>
                <a:sym typeface="Calibri"/>
              </a:rPr>
              <a:t> ⇄ </a:t>
            </a:r>
            <a:r>
              <a:rPr i="1" lang="en-US">
                <a:latin typeface="Calibri"/>
                <a:ea typeface="Calibri"/>
                <a:cs typeface="Calibri"/>
                <a:sym typeface="Calibri"/>
              </a:rPr>
              <a:t>Incorrect heading order</a:t>
            </a:r>
            <a:endParaRPr>
              <a:latin typeface="Calibri"/>
              <a:ea typeface="Calibri"/>
              <a:cs typeface="Calibri"/>
              <a:sym typeface="Calibri"/>
            </a:endParaRPr>
          </a:p>
          <a:p>
            <a:pPr indent="-317500" lvl="0" marL="914400" rtl="0" algn="l">
              <a:lnSpc>
                <a:spcPct val="100000"/>
              </a:lnSpc>
              <a:spcBef>
                <a:spcPts val="0"/>
              </a:spcBef>
              <a:spcAft>
                <a:spcPts val="0"/>
              </a:spcAft>
              <a:buSzPts val="1400"/>
              <a:buChar char="●"/>
            </a:pPr>
            <a:r>
              <a:rPr b="1" lang="en-US">
                <a:latin typeface="Calibri"/>
                <a:ea typeface="Calibri"/>
                <a:cs typeface="Calibri"/>
                <a:sym typeface="Calibri"/>
              </a:rPr>
              <a:t>Link affordance</a:t>
            </a:r>
            <a:r>
              <a:rPr lang="en-US">
                <a:latin typeface="Calibri"/>
                <a:ea typeface="Calibri"/>
                <a:cs typeface="Calibri"/>
                <a:sym typeface="Calibri"/>
              </a:rPr>
              <a:t> - </a:t>
            </a:r>
            <a:r>
              <a:rPr i="1" lang="en-US">
                <a:latin typeface="Calibri"/>
                <a:ea typeface="Calibri"/>
                <a:cs typeface="Calibri"/>
                <a:sym typeface="Calibri"/>
              </a:rPr>
              <a:t>Discernible text</a:t>
            </a:r>
            <a:r>
              <a:rPr lang="en-US">
                <a:latin typeface="Calibri"/>
                <a:ea typeface="Calibri"/>
                <a:cs typeface="Calibri"/>
                <a:sym typeface="Calibri"/>
              </a:rPr>
              <a:t> ⇄ </a:t>
            </a:r>
            <a:r>
              <a:rPr i="1" lang="en-US">
                <a:latin typeface="Calibri"/>
                <a:ea typeface="Calibri"/>
                <a:cs typeface="Calibri"/>
                <a:sym typeface="Calibri"/>
              </a:rPr>
              <a:t>Discernible style</a:t>
            </a:r>
            <a:endParaRPr b="1">
              <a:solidFill>
                <a:schemeClr val="dk1"/>
              </a:solidFill>
              <a:latin typeface="Calibri"/>
              <a:ea typeface="Calibri"/>
              <a:cs typeface="Calibri"/>
              <a:sym typeface="Calibri"/>
            </a:endParaRPr>
          </a:p>
          <a:p>
            <a:pPr indent="0" lvl="0" marL="342900" rtl="0" algn="l">
              <a:lnSpc>
                <a:spcPct val="100000"/>
              </a:lnSpc>
              <a:spcBef>
                <a:spcPts val="1000"/>
              </a:spcBef>
              <a:spcAft>
                <a:spcPts val="0"/>
              </a:spcAft>
              <a:buNone/>
            </a:pPr>
            <a:r>
              <a:rPr b="1" lang="en-US">
                <a:solidFill>
                  <a:schemeClr val="dk1"/>
                </a:solidFill>
                <a:latin typeface="Calibri"/>
                <a:ea typeface="Calibri"/>
                <a:cs typeface="Calibri"/>
                <a:sym typeface="Calibri"/>
              </a:rPr>
              <a:t>Independent fixes (votes show no correlation)</a:t>
            </a:r>
            <a:endParaRPr b="1">
              <a:solidFill>
                <a:schemeClr val="dk1"/>
              </a:solidFill>
              <a:latin typeface="Calibri"/>
              <a:ea typeface="Calibri"/>
              <a:cs typeface="Calibri"/>
              <a:sym typeface="Calibri"/>
            </a:endParaRPr>
          </a:p>
          <a:p>
            <a:pPr indent="-317500" lvl="0" marL="914400" marR="0" rtl="0" algn="l">
              <a:lnSpc>
                <a:spcPct val="100000"/>
              </a:lnSpc>
              <a:spcBef>
                <a:spcPts val="0"/>
              </a:spcBef>
              <a:spcAft>
                <a:spcPts val="0"/>
              </a:spcAft>
              <a:buSzPts val="1400"/>
              <a:buFont typeface="Calibri"/>
              <a:buChar char="●"/>
            </a:pPr>
            <a:r>
              <a:rPr b="1" lang="en-US">
                <a:latin typeface="Calibri"/>
                <a:ea typeface="Calibri"/>
                <a:cs typeface="Calibri"/>
                <a:sym typeface="Calibri"/>
              </a:rPr>
              <a:t>Colour-contrast adjustments – purely visual; orthogonal to structural fixes</a:t>
            </a:r>
            <a:endParaRPr b="1">
              <a:latin typeface="Calibri"/>
              <a:ea typeface="Calibri"/>
              <a:cs typeface="Calibri"/>
              <a:sym typeface="Calibri"/>
            </a:endParaRPr>
          </a:p>
          <a:p>
            <a:pPr indent="-317500" lvl="0" marL="914400" marR="0" rtl="0" algn="l">
              <a:lnSpc>
                <a:spcPct val="100000"/>
              </a:lnSpc>
              <a:spcBef>
                <a:spcPts val="0"/>
              </a:spcBef>
              <a:spcAft>
                <a:spcPts val="0"/>
              </a:spcAft>
              <a:buSzPts val="1400"/>
              <a:buChar char="●"/>
            </a:pPr>
            <a:r>
              <a:rPr b="1" lang="en-US">
                <a:solidFill>
                  <a:srgbClr val="188038"/>
                </a:solidFill>
                <a:latin typeface="Calibri"/>
                <a:ea typeface="Calibri"/>
                <a:cs typeface="Calibri"/>
                <a:sym typeface="Calibri"/>
              </a:rPr>
              <a:t>&lt;html lang&gt;</a:t>
            </a:r>
            <a:r>
              <a:rPr b="1" lang="en-US">
                <a:latin typeface="Calibri"/>
                <a:ea typeface="Calibri"/>
                <a:cs typeface="Calibri"/>
                <a:sym typeface="Calibri"/>
              </a:rPr>
              <a:t> attribute – language metadata </a:t>
            </a:r>
            <a:r>
              <a:rPr b="1" lang="en-US">
                <a:latin typeface="Calibri"/>
                <a:ea typeface="Calibri"/>
                <a:cs typeface="Calibri"/>
                <a:sym typeface="Calibri"/>
              </a:rPr>
              <a:t>only</a:t>
            </a:r>
            <a:endParaRPr b="1">
              <a:latin typeface="Calibri"/>
              <a:ea typeface="Calibri"/>
              <a:cs typeface="Calibri"/>
              <a:sym typeface="Calibri"/>
            </a:endParaRPr>
          </a:p>
          <a:p>
            <a:pPr indent="-317500" lvl="0" marL="914400" marR="0" rtl="0" algn="l">
              <a:lnSpc>
                <a:spcPct val="100000"/>
              </a:lnSpc>
              <a:spcBef>
                <a:spcPts val="0"/>
              </a:spcBef>
              <a:spcAft>
                <a:spcPts val="0"/>
              </a:spcAft>
              <a:buSzPts val="1400"/>
              <a:buChar char="●"/>
            </a:pPr>
            <a:r>
              <a:rPr b="1" lang="en-US">
                <a:latin typeface="Calibri"/>
                <a:ea typeface="Calibri"/>
                <a:cs typeface="Calibri"/>
                <a:sym typeface="Calibri"/>
              </a:rPr>
              <a:t>Positive </a:t>
            </a:r>
            <a:r>
              <a:rPr b="1" lang="en-US">
                <a:solidFill>
                  <a:srgbClr val="188038"/>
                </a:solidFill>
                <a:latin typeface="Calibri"/>
                <a:ea typeface="Calibri"/>
                <a:cs typeface="Calibri"/>
                <a:sym typeface="Calibri"/>
              </a:rPr>
              <a:t>tabindex</a:t>
            </a:r>
            <a:r>
              <a:rPr b="1" lang="en-US">
                <a:latin typeface="Calibri"/>
                <a:ea typeface="Calibri"/>
                <a:cs typeface="Calibri"/>
                <a:sym typeface="Calibri"/>
              </a:rPr>
              <a:t> changes – keyboard order, unrelated to landmarks/headings</a:t>
            </a:r>
            <a:endParaRPr b="1">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3"/>
          <p:cNvSpPr txBox="1"/>
          <p:nvPr>
            <p:ph type="title"/>
          </p:nvPr>
        </p:nvSpPr>
        <p:spPr>
          <a:xfrm>
            <a:off x="747863" y="269000"/>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Future Scope</a:t>
            </a:r>
            <a:endParaRPr u="sng">
              <a:solidFill>
                <a:schemeClr val="dk1"/>
              </a:solidFill>
            </a:endParaRPr>
          </a:p>
        </p:txBody>
      </p:sp>
      <p:sp>
        <p:nvSpPr>
          <p:cNvPr id="341" name="Google Shape;341;p43"/>
          <p:cNvSpPr txBox="1"/>
          <p:nvPr>
            <p:ph idx="1" type="body"/>
          </p:nvPr>
        </p:nvSpPr>
        <p:spPr>
          <a:xfrm>
            <a:off x="747875" y="1458800"/>
            <a:ext cx="10370100" cy="4767300"/>
          </a:xfrm>
          <a:prstGeom prst="rect">
            <a:avLst/>
          </a:prstGeom>
        </p:spPr>
        <p:txBody>
          <a:bodyPr anchorCtr="0" anchor="t" bIns="45700" lIns="91425" spcFirstLastPara="1" rIns="91425" wrap="square" tIns="45700">
            <a:noAutofit/>
          </a:bodyPr>
          <a:lstStyle/>
          <a:p>
            <a:pPr indent="0" lvl="0" marL="0" rtl="0" algn="l">
              <a:lnSpc>
                <a:spcPct val="95000"/>
              </a:lnSpc>
              <a:spcBef>
                <a:spcPts val="1400"/>
              </a:spcBef>
              <a:spcAft>
                <a:spcPts val="0"/>
              </a:spcAft>
              <a:buClr>
                <a:schemeClr val="dk1"/>
              </a:buClr>
              <a:buSzPts val="852"/>
              <a:buFont typeface="Arial"/>
              <a:buNone/>
            </a:pPr>
            <a:r>
              <a:rPr b="1" lang="en-US" sz="1600">
                <a:solidFill>
                  <a:schemeClr val="dk1"/>
                </a:solidFill>
                <a:latin typeface="Calibri"/>
                <a:ea typeface="Calibri"/>
                <a:cs typeface="Calibri"/>
                <a:sym typeface="Calibri"/>
              </a:rPr>
              <a:t>1. Fine-Tuning Agents with Human Feedback</a:t>
            </a:r>
            <a:endParaRPr b="1" sz="1600">
              <a:solidFill>
                <a:schemeClr val="dk1"/>
              </a:solidFill>
              <a:latin typeface="Calibri"/>
              <a:ea typeface="Calibri"/>
              <a:cs typeface="Calibri"/>
              <a:sym typeface="Calibri"/>
            </a:endParaRPr>
          </a:p>
          <a:p>
            <a:pPr indent="-330200" lvl="0" marL="457200" rtl="0" algn="l">
              <a:lnSpc>
                <a:spcPct val="95000"/>
              </a:lnSpc>
              <a:spcBef>
                <a:spcPts val="12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Retrain agents using our verified fixes dataset</a:t>
            </a:r>
            <a:endParaRPr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Improve accuracy and alignment with real user preferences</a:t>
            </a:r>
            <a:endParaRPr sz="1600">
              <a:solidFill>
                <a:schemeClr val="dk1"/>
              </a:solidFill>
              <a:latin typeface="Calibri"/>
              <a:ea typeface="Calibri"/>
              <a:cs typeface="Calibri"/>
              <a:sym typeface="Calibri"/>
            </a:endParaRPr>
          </a:p>
          <a:p>
            <a:pPr indent="0" lvl="0" marL="0" rtl="0" algn="l">
              <a:lnSpc>
                <a:spcPct val="95000"/>
              </a:lnSpc>
              <a:spcBef>
                <a:spcPts val="1400"/>
              </a:spcBef>
              <a:spcAft>
                <a:spcPts val="0"/>
              </a:spcAft>
              <a:buClr>
                <a:schemeClr val="dk1"/>
              </a:buClr>
              <a:buSzPts val="852"/>
              <a:buFont typeface="Arial"/>
              <a:buNone/>
            </a:pPr>
            <a:r>
              <a:rPr b="1" lang="en-US" sz="1600">
                <a:solidFill>
                  <a:schemeClr val="dk1"/>
                </a:solidFill>
                <a:latin typeface="Calibri"/>
                <a:ea typeface="Calibri"/>
                <a:cs typeface="Calibri"/>
                <a:sym typeface="Calibri"/>
              </a:rPr>
              <a:t>2. Expanded Disability Simulation</a:t>
            </a:r>
            <a:endParaRPr b="1" sz="1600">
              <a:solidFill>
                <a:schemeClr val="dk1"/>
              </a:solidFill>
              <a:latin typeface="Calibri"/>
              <a:ea typeface="Calibri"/>
              <a:cs typeface="Calibri"/>
              <a:sym typeface="Calibri"/>
            </a:endParaRPr>
          </a:p>
          <a:p>
            <a:pPr indent="-330200" lvl="0" marL="457200" rtl="0" algn="l">
              <a:lnSpc>
                <a:spcPct val="95000"/>
              </a:lnSpc>
              <a:spcBef>
                <a:spcPts val="12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Add agents for cognitive, hearing, and language-specific needs</a:t>
            </a:r>
            <a:endParaRPr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Broaden the range of simulated accessibility experiences</a:t>
            </a:r>
            <a:endParaRPr sz="1600">
              <a:solidFill>
                <a:schemeClr val="dk1"/>
              </a:solidFill>
              <a:latin typeface="Calibri"/>
              <a:ea typeface="Calibri"/>
              <a:cs typeface="Calibri"/>
              <a:sym typeface="Calibri"/>
            </a:endParaRPr>
          </a:p>
          <a:p>
            <a:pPr indent="0" lvl="0" marL="0" rtl="0" algn="l">
              <a:lnSpc>
                <a:spcPct val="95000"/>
              </a:lnSpc>
              <a:spcBef>
                <a:spcPts val="1400"/>
              </a:spcBef>
              <a:spcAft>
                <a:spcPts val="0"/>
              </a:spcAft>
              <a:buClr>
                <a:schemeClr val="dk1"/>
              </a:buClr>
              <a:buSzPts val="852"/>
              <a:buFont typeface="Arial"/>
              <a:buNone/>
            </a:pPr>
            <a:r>
              <a:rPr b="1" lang="en-US" sz="1600">
                <a:solidFill>
                  <a:schemeClr val="dk1"/>
                </a:solidFill>
                <a:latin typeface="Calibri"/>
                <a:ea typeface="Calibri"/>
                <a:cs typeface="Calibri"/>
                <a:sym typeface="Calibri"/>
              </a:rPr>
              <a:t>3. Explainable AI for Accessibility</a:t>
            </a:r>
            <a:endParaRPr b="1" sz="1600">
              <a:solidFill>
                <a:schemeClr val="dk1"/>
              </a:solidFill>
              <a:latin typeface="Calibri"/>
              <a:ea typeface="Calibri"/>
              <a:cs typeface="Calibri"/>
              <a:sym typeface="Calibri"/>
            </a:endParaRPr>
          </a:p>
          <a:p>
            <a:pPr indent="-330200" lvl="0" marL="457200" rtl="0" algn="l">
              <a:lnSpc>
                <a:spcPct val="95000"/>
              </a:lnSpc>
              <a:spcBef>
                <a:spcPts val="12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Provide natural language justifications for each fix</a:t>
            </a:r>
            <a:endParaRPr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Boost developer trust with transparent, interpretable suggestions</a:t>
            </a:r>
            <a:endParaRPr sz="1600">
              <a:solidFill>
                <a:schemeClr val="dk1"/>
              </a:solidFill>
              <a:latin typeface="Calibri"/>
              <a:ea typeface="Calibri"/>
              <a:cs typeface="Calibri"/>
              <a:sym typeface="Calibri"/>
            </a:endParaRPr>
          </a:p>
          <a:p>
            <a:pPr indent="0" lvl="0" marL="0" rtl="0" algn="l">
              <a:lnSpc>
                <a:spcPct val="95000"/>
              </a:lnSpc>
              <a:spcBef>
                <a:spcPts val="1400"/>
              </a:spcBef>
              <a:spcAft>
                <a:spcPts val="0"/>
              </a:spcAft>
              <a:buClr>
                <a:schemeClr val="dk1"/>
              </a:buClr>
              <a:buSzPts val="852"/>
              <a:buFont typeface="Arial"/>
              <a:buNone/>
            </a:pPr>
            <a:r>
              <a:rPr b="1" lang="en-US" sz="1600">
                <a:solidFill>
                  <a:schemeClr val="dk1"/>
                </a:solidFill>
                <a:latin typeface="Calibri"/>
                <a:ea typeface="Calibri"/>
                <a:cs typeface="Calibri"/>
                <a:sym typeface="Calibri"/>
              </a:rPr>
              <a:t>4. Real-Time Developer Tooling</a:t>
            </a:r>
            <a:endParaRPr b="1" sz="1600">
              <a:solidFill>
                <a:schemeClr val="dk1"/>
              </a:solidFill>
              <a:latin typeface="Calibri"/>
              <a:ea typeface="Calibri"/>
              <a:cs typeface="Calibri"/>
              <a:sym typeface="Calibri"/>
            </a:endParaRPr>
          </a:p>
          <a:p>
            <a:pPr indent="-330200" lvl="0" marL="457200" rtl="0" algn="l">
              <a:lnSpc>
                <a:spcPct val="95000"/>
              </a:lnSpc>
              <a:spcBef>
                <a:spcPts val="12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Launch a browser extension for live AI-powered accessibility auditing</a:t>
            </a:r>
            <a:endParaRPr sz="1600">
              <a:solidFill>
                <a:schemeClr val="dk1"/>
              </a:solidFill>
              <a:latin typeface="Calibri"/>
              <a:ea typeface="Calibri"/>
              <a:cs typeface="Calibri"/>
              <a:sym typeface="Calibri"/>
            </a:endParaRPr>
          </a:p>
          <a:p>
            <a:pPr indent="-330200" lvl="0" marL="457200" rtl="0" algn="l">
              <a:lnSpc>
                <a:spcPct val="9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Empower designers with immediate, actionable feedback</a:t>
            </a:r>
            <a:endParaRPr sz="1600">
              <a:solidFill>
                <a:schemeClr val="dk1"/>
              </a:solidFill>
              <a:latin typeface="Calibri"/>
              <a:ea typeface="Calibri"/>
              <a:cs typeface="Calibri"/>
              <a:sym typeface="Calibri"/>
            </a:endParaRPr>
          </a:p>
          <a:p>
            <a:pPr indent="0" lvl="0" marL="0" rtl="0" algn="l">
              <a:lnSpc>
                <a:spcPct val="70000"/>
              </a:lnSpc>
              <a:spcBef>
                <a:spcPts val="1200"/>
              </a:spcBef>
              <a:spcAft>
                <a:spcPts val="0"/>
              </a:spcAft>
              <a:buSzPts val="852"/>
              <a:buNone/>
            </a:pPr>
            <a:r>
              <a:t/>
            </a:r>
            <a:endParaRPr sz="2350">
              <a:latin typeface="Calibri"/>
              <a:ea typeface="Calibri"/>
              <a:cs typeface="Calibri"/>
              <a:sym typeface="Calibri"/>
            </a:endParaRPr>
          </a:p>
        </p:txBody>
      </p:sp>
      <p:sp>
        <p:nvSpPr>
          <p:cNvPr id="342" name="Google Shape;342;p4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type="title"/>
          </p:nvPr>
        </p:nvSpPr>
        <p:spPr>
          <a:xfrm>
            <a:off x="652463" y="276575"/>
            <a:ext cx="10370100" cy="1189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u="sng">
                <a:solidFill>
                  <a:schemeClr val="dk1"/>
                </a:solidFill>
              </a:rPr>
              <a:t>References</a:t>
            </a:r>
            <a:endParaRPr u="sng">
              <a:solidFill>
                <a:schemeClr val="dk1"/>
              </a:solidFill>
            </a:endParaRPr>
          </a:p>
        </p:txBody>
      </p:sp>
      <p:sp>
        <p:nvSpPr>
          <p:cNvPr id="349" name="Google Shape;349;p44"/>
          <p:cNvSpPr txBox="1"/>
          <p:nvPr>
            <p:ph idx="1" type="body"/>
          </p:nvPr>
        </p:nvSpPr>
        <p:spPr>
          <a:xfrm>
            <a:off x="652475" y="1598325"/>
            <a:ext cx="10370100" cy="4574400"/>
          </a:xfrm>
          <a:prstGeom prst="rect">
            <a:avLst/>
          </a:prstGeom>
        </p:spPr>
        <p:txBody>
          <a:bodyPr anchorCtr="0" anchor="t" bIns="45700" lIns="91425" spcFirstLastPara="1" rIns="91425" wrap="square" tIns="45700">
            <a:noAutofit/>
          </a:bodyPr>
          <a:lstStyle/>
          <a:p>
            <a:pPr indent="-368300" lvl="0" marL="457200" rtl="0" algn="just">
              <a:lnSpc>
                <a:spcPct val="100000"/>
              </a:lnSpc>
              <a:spcBef>
                <a:spcPts val="100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Vemuri, V. P. K. (2024). </a:t>
            </a:r>
            <a:r>
              <a:rPr i="1" lang="en-US" sz="1500">
                <a:solidFill>
                  <a:schemeClr val="dk1"/>
                </a:solidFill>
                <a:latin typeface="Calibri"/>
                <a:ea typeface="Calibri"/>
                <a:cs typeface="Calibri"/>
                <a:sym typeface="Calibri"/>
              </a:rPr>
              <a:t>Advancing Web Accessibility: Leveraging Generative AI for Enhanced WCAG Compliance</a:t>
            </a:r>
            <a:r>
              <a:rPr lang="en-US" sz="1500">
                <a:solidFill>
                  <a:schemeClr val="dk1"/>
                </a:solidFill>
                <a:latin typeface="Calibri"/>
                <a:ea typeface="Calibri"/>
                <a:cs typeface="Calibri"/>
                <a:sym typeface="Calibri"/>
              </a:rPr>
              <a:t>. Journal of Artificial Intelligence &amp; Cloud Computing, 3(2), 1–6.</a:t>
            </a:r>
            <a:r>
              <a:rPr lang="en-US" sz="15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4"/>
              </a:rPr>
              <a:t>https://doi.org/10.47363/JAICC/2024(3)E261</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Yu, Y., Ryskeldiev, B., Tsutsui, A., Gillingham, M., &amp; Wang, Y. (2025). </a:t>
            </a:r>
            <a:r>
              <a:rPr i="1" lang="en-US" sz="1500">
                <a:solidFill>
                  <a:schemeClr val="dk1"/>
                </a:solidFill>
                <a:latin typeface="Calibri"/>
                <a:ea typeface="Calibri"/>
                <a:cs typeface="Calibri"/>
                <a:sym typeface="Calibri"/>
              </a:rPr>
              <a:t>From Cluttered to Clear: Improving the Web Accessibility Design for Screen Reader Users in E-commerce With Generative AI</a:t>
            </a:r>
            <a:r>
              <a:rPr lang="en-US" sz="1500">
                <a:solidFill>
                  <a:schemeClr val="dk1"/>
                </a:solidFill>
                <a:latin typeface="Calibri"/>
                <a:ea typeface="Calibri"/>
                <a:cs typeface="Calibri"/>
                <a:sym typeface="Calibri"/>
              </a:rPr>
              <a:t>. arXiv preprint arXiv:2502.18701.</a:t>
            </a:r>
            <a:r>
              <a:rPr lang="en-US" sz="1500">
                <a:solidFill>
                  <a:schemeClr val="dk1"/>
                </a:solidFill>
                <a:uFill>
                  <a:noFill/>
                </a:uFill>
                <a:latin typeface="Calibri"/>
                <a:ea typeface="Calibri"/>
                <a:cs typeface="Calibri"/>
                <a:sym typeface="Calibri"/>
                <a:hlinkClick r:id="rId5">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6"/>
              </a:rPr>
              <a:t>https://arxiv.org/abs/2502.18701</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Madu, I., &amp; Nzenwa, C. (2024). </a:t>
            </a:r>
            <a:r>
              <a:rPr i="1" lang="en-US" sz="1500">
                <a:solidFill>
                  <a:schemeClr val="dk1"/>
                </a:solidFill>
                <a:latin typeface="Calibri"/>
                <a:ea typeface="Calibri"/>
                <a:cs typeface="Calibri"/>
                <a:sym typeface="Calibri"/>
              </a:rPr>
              <a:t>AI in Web Development: Enhancing Accessibility</a:t>
            </a:r>
            <a:r>
              <a:rPr lang="en-US" sz="1500">
                <a:solidFill>
                  <a:schemeClr val="dk1"/>
                </a:solidFill>
                <a:latin typeface="Calibri"/>
                <a:ea typeface="Calibri"/>
                <a:cs typeface="Calibri"/>
                <a:sym typeface="Calibri"/>
              </a:rPr>
              <a:t>. SSRN.</a:t>
            </a:r>
            <a:r>
              <a:rPr lang="en-US" sz="1500">
                <a:solidFill>
                  <a:schemeClr val="dk1"/>
                </a:solidFill>
                <a:uFill>
                  <a:noFill/>
                </a:uFill>
                <a:latin typeface="Calibri"/>
                <a:ea typeface="Calibri"/>
                <a:cs typeface="Calibri"/>
                <a:sym typeface="Calibri"/>
                <a:hlinkClick r:id="rId7">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8"/>
              </a:rPr>
              <a:t>https://doi.org/10.2139/ssrn.4949516</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Wu, J., Wang, S., Shen, S., Peng, Y.-H., Nichols, J., &amp; Bigham, J. P. (2023). </a:t>
            </a:r>
            <a:r>
              <a:rPr i="1" lang="en-US" sz="1500">
                <a:solidFill>
                  <a:schemeClr val="dk1"/>
                </a:solidFill>
                <a:latin typeface="Calibri"/>
                <a:ea typeface="Calibri"/>
                <a:cs typeface="Calibri"/>
                <a:sym typeface="Calibri"/>
              </a:rPr>
              <a:t>WebUI: A Dataset for Enhancing Visual UI Understanding with Web Semantics</a:t>
            </a:r>
            <a:r>
              <a:rPr lang="en-US" sz="1500">
                <a:solidFill>
                  <a:schemeClr val="dk1"/>
                </a:solidFill>
                <a:latin typeface="Calibri"/>
                <a:ea typeface="Calibri"/>
                <a:cs typeface="Calibri"/>
                <a:sym typeface="Calibri"/>
              </a:rPr>
              <a:t>. arXiv preprint arXiv:2301.13280.</a:t>
            </a:r>
            <a:r>
              <a:rPr lang="en-US" sz="1500">
                <a:solidFill>
                  <a:schemeClr val="dk1"/>
                </a:solidFill>
                <a:uFill>
                  <a:noFill/>
                </a:uFill>
                <a:latin typeface="Calibri"/>
                <a:ea typeface="Calibri"/>
                <a:cs typeface="Calibri"/>
                <a:sym typeface="Calibri"/>
                <a:hlinkClick r:id="rId9">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10"/>
              </a:rPr>
              <a:t>https://arxiv.org/abs/2301.13280</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Deka, B., Huang, Z., Franzen, C., Hibschman, J., Afergan, D., Li, Y., Nichols, J., &amp; Kumar, R. (2017). </a:t>
            </a:r>
            <a:r>
              <a:rPr i="1" lang="en-US" sz="1500">
                <a:solidFill>
                  <a:schemeClr val="dk1"/>
                </a:solidFill>
                <a:latin typeface="Calibri"/>
                <a:ea typeface="Calibri"/>
                <a:cs typeface="Calibri"/>
                <a:sym typeface="Calibri"/>
              </a:rPr>
              <a:t>Rico: A Mobile App Dataset for Building Data-Driven Design Applications</a:t>
            </a:r>
            <a:r>
              <a:rPr lang="en-US" sz="1500">
                <a:solidFill>
                  <a:schemeClr val="dk1"/>
                </a:solidFill>
                <a:latin typeface="Calibri"/>
                <a:ea typeface="Calibri"/>
                <a:cs typeface="Calibri"/>
                <a:sym typeface="Calibri"/>
              </a:rPr>
              <a:t>. In </a:t>
            </a:r>
            <a:r>
              <a:rPr i="1" lang="en-US" sz="1500">
                <a:solidFill>
                  <a:schemeClr val="dk1"/>
                </a:solidFill>
                <a:latin typeface="Calibri"/>
                <a:ea typeface="Calibri"/>
                <a:cs typeface="Calibri"/>
                <a:sym typeface="Calibri"/>
              </a:rPr>
              <a:t>Proceedings of the 30th Annual ACM Symposium on User Interface Software and Technology</a:t>
            </a:r>
            <a:r>
              <a:rPr lang="en-US" sz="1500">
                <a:solidFill>
                  <a:schemeClr val="dk1"/>
                </a:solidFill>
                <a:latin typeface="Calibri"/>
                <a:ea typeface="Calibri"/>
                <a:cs typeface="Calibri"/>
                <a:sym typeface="Calibri"/>
              </a:rPr>
              <a:t> (pp. 845–854).</a:t>
            </a:r>
            <a:r>
              <a:rPr lang="en-US" sz="1500">
                <a:solidFill>
                  <a:schemeClr val="dk1"/>
                </a:solidFill>
                <a:uFill>
                  <a:noFill/>
                </a:uFill>
                <a:latin typeface="Calibri"/>
                <a:ea typeface="Calibri"/>
                <a:cs typeface="Calibri"/>
                <a:sym typeface="Calibri"/>
                <a:hlinkClick r:id="rId11">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12"/>
              </a:rPr>
              <a:t>https://doi.org/10.1145/3126594.3126651</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Hämäläinen, H., et al. (2023). </a:t>
            </a:r>
            <a:r>
              <a:rPr i="1" lang="en-US" sz="1500">
                <a:solidFill>
                  <a:schemeClr val="dk1"/>
                </a:solidFill>
                <a:latin typeface="Calibri"/>
                <a:ea typeface="Calibri"/>
                <a:cs typeface="Calibri"/>
                <a:sym typeface="Calibri"/>
              </a:rPr>
              <a:t>Evaluating Large Language Models in Generating Synthetic HCI Research Data: A Case Study</a:t>
            </a:r>
            <a:r>
              <a:rPr lang="en-US" sz="1500">
                <a:solidFill>
                  <a:schemeClr val="dk1"/>
                </a:solidFill>
                <a:latin typeface="Calibri"/>
                <a:ea typeface="Calibri"/>
                <a:cs typeface="Calibri"/>
                <a:sym typeface="Calibri"/>
              </a:rPr>
              <a:t>. In </a:t>
            </a:r>
            <a:r>
              <a:rPr i="1" lang="en-US" sz="1500">
                <a:solidFill>
                  <a:schemeClr val="dk1"/>
                </a:solidFill>
                <a:latin typeface="Calibri"/>
                <a:ea typeface="Calibri"/>
                <a:cs typeface="Calibri"/>
                <a:sym typeface="Calibri"/>
              </a:rPr>
              <a:t>Proceedings of the 2023 CHI Conference on Human Factors in Computing Systems</a:t>
            </a:r>
            <a:r>
              <a:rPr lang="en-US" sz="1500">
                <a:solidFill>
                  <a:schemeClr val="dk1"/>
                </a:solidFill>
                <a:latin typeface="Calibri"/>
                <a:ea typeface="Calibri"/>
                <a:cs typeface="Calibri"/>
                <a:sym typeface="Calibri"/>
              </a:rPr>
              <a:t>.</a:t>
            </a:r>
            <a:r>
              <a:rPr lang="en-US" sz="1500">
                <a:solidFill>
                  <a:schemeClr val="dk1"/>
                </a:solidFill>
                <a:uFill>
                  <a:noFill/>
                </a:uFill>
                <a:latin typeface="Calibri"/>
                <a:ea typeface="Calibri"/>
                <a:cs typeface="Calibri"/>
                <a:sym typeface="Calibri"/>
                <a:hlinkClick r:id="rId13">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14"/>
              </a:rPr>
              <a:t>https://doi.org/10.1145/3544548.3580688</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AutoNum type="arabicPeriod"/>
            </a:pPr>
            <a:r>
              <a:rPr lang="en-US" sz="1500">
                <a:solidFill>
                  <a:schemeClr val="dk1"/>
                </a:solidFill>
                <a:latin typeface="Calibri"/>
                <a:ea typeface="Calibri"/>
                <a:cs typeface="Calibri"/>
                <a:sym typeface="Calibri"/>
              </a:rPr>
              <a:t>Lee, N., et al. (2022). </a:t>
            </a:r>
            <a:r>
              <a:rPr i="1" lang="en-US" sz="1500">
                <a:solidFill>
                  <a:schemeClr val="dk1"/>
                </a:solidFill>
                <a:latin typeface="Calibri"/>
                <a:ea typeface="Calibri"/>
                <a:cs typeface="Calibri"/>
                <a:sym typeface="Calibri"/>
              </a:rPr>
              <a:t>CoAuthor: Designing a Human-AI Collaborative Writing Dataset</a:t>
            </a:r>
            <a:r>
              <a:rPr lang="en-US" sz="1500">
                <a:solidFill>
                  <a:schemeClr val="dk1"/>
                </a:solidFill>
                <a:latin typeface="Calibri"/>
                <a:ea typeface="Calibri"/>
                <a:cs typeface="Calibri"/>
                <a:sym typeface="Calibri"/>
              </a:rPr>
              <a:t>. arXiv preprint arXiv:2201.06796.</a:t>
            </a:r>
            <a:r>
              <a:rPr lang="en-US" sz="1500">
                <a:solidFill>
                  <a:schemeClr val="dk1"/>
                </a:solidFill>
                <a:uFill>
                  <a:noFill/>
                </a:uFill>
                <a:latin typeface="Calibri"/>
                <a:ea typeface="Calibri"/>
                <a:cs typeface="Calibri"/>
                <a:sym typeface="Calibri"/>
                <a:hlinkClick r:id="rId15">
                  <a:extLst>
                    <a:ext uri="{A12FA001-AC4F-418D-AE19-62706E023703}">
                      <ahyp:hlinkClr val="tx"/>
                    </a:ext>
                  </a:extLst>
                </a:hlinkClick>
              </a:rPr>
              <a:t> </a:t>
            </a:r>
            <a:r>
              <a:rPr lang="en-US" sz="1500">
                <a:solidFill>
                  <a:schemeClr val="hlink"/>
                </a:solidFill>
                <a:uFill>
                  <a:noFill/>
                </a:uFill>
                <a:latin typeface="Calibri"/>
                <a:ea typeface="Calibri"/>
                <a:cs typeface="Calibri"/>
                <a:sym typeface="Calibri"/>
                <a:hlinkClick r:id="rId16"/>
              </a:rPr>
              <a:t>https://arxiv.org/abs/2201.06796</a:t>
            </a:r>
            <a:endParaRPr sz="2200">
              <a:solidFill>
                <a:schemeClr val="dk1"/>
              </a:solidFill>
              <a:latin typeface="Calibri"/>
              <a:ea typeface="Calibri"/>
              <a:cs typeface="Calibri"/>
              <a:sym typeface="Calibri"/>
            </a:endParaRPr>
          </a:p>
        </p:txBody>
      </p:sp>
      <p:sp>
        <p:nvSpPr>
          <p:cNvPr id="350" name="Google Shape;350;p4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txBox="1"/>
          <p:nvPr>
            <p:ph type="title"/>
          </p:nvPr>
        </p:nvSpPr>
        <p:spPr>
          <a:xfrm>
            <a:off x="1200" y="2988000"/>
            <a:ext cx="12189600" cy="88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n-US" sz="4800"/>
              <a:t>Thank You!</a:t>
            </a:r>
            <a:endParaRPr sz="4800"/>
          </a:p>
          <a:p>
            <a:pPr indent="0" lvl="0" marL="0" rtl="0" algn="ctr">
              <a:lnSpc>
                <a:spcPct val="90000"/>
              </a:lnSpc>
              <a:spcBef>
                <a:spcPts val="0"/>
              </a:spcBef>
              <a:spcAft>
                <a:spcPts val="0"/>
              </a:spcAft>
              <a:buClr>
                <a:schemeClr val="lt1"/>
              </a:buClr>
              <a:buSzPts val="5400"/>
              <a:buFont typeface="Arial"/>
              <a:buNone/>
            </a:pPr>
            <a:r>
              <a:t/>
            </a:r>
            <a:endParaRPr sz="428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MB PPT ORANGE">
      <a:dk1>
        <a:srgbClr val="000000"/>
      </a:dk1>
      <a:lt1>
        <a:srgbClr val="FFFFFF"/>
      </a:lt1>
      <a:dk2>
        <a:srgbClr val="13294B"/>
      </a:dk2>
      <a:lt2>
        <a:srgbClr val="FF5F05"/>
      </a:lt2>
      <a:accent1>
        <a:srgbClr val="0071CE"/>
      </a:accent1>
      <a:accent2>
        <a:srgbClr val="FCB316"/>
      </a:accent2>
      <a:accent3>
        <a:srgbClr val="007E8E"/>
      </a:accent3>
      <a:accent4>
        <a:srgbClr val="006230"/>
      </a:accent4>
      <a:accent5>
        <a:srgbClr val="5C0E41"/>
      </a:accent5>
      <a:accent6>
        <a:srgbClr val="7D3E13"/>
      </a:accent6>
      <a:hlink>
        <a:srgbClr val="C84113"/>
      </a:hlink>
      <a:folHlink>
        <a:srgbClr val="2159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